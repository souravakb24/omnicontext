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embeddedFontLst>
    <p:embeddedFont>
      <p:font typeface="Raleway"/>
      <p:regular r:id="rId50"/>
      <p:bold r:id="rId51"/>
      <p:italic r:id="rId52"/>
      <p:boldItalic r:id="rId53"/>
    </p:embeddedFont>
    <p:embeddedFont>
      <p:font typeface="Nunito"/>
      <p:regular r:id="rId54"/>
      <p:bold r:id="rId55"/>
      <p:italic r:id="rId56"/>
      <p:boldItalic r:id="rId57"/>
    </p:embeddedFont>
    <p:embeddedFont>
      <p:font typeface="Lato"/>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schemas.openxmlformats.org/officeDocument/2006/relationships/font" Target="fonts/Lato-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ato-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aleway-bold.fntdata"/><Relationship Id="rId50" Type="http://schemas.openxmlformats.org/officeDocument/2006/relationships/font" Target="fonts/Raleway-regular.fntdata"/><Relationship Id="rId53" Type="http://schemas.openxmlformats.org/officeDocument/2006/relationships/font" Target="fonts/Raleway-boldItalic.fntdata"/><Relationship Id="rId52" Type="http://schemas.openxmlformats.org/officeDocument/2006/relationships/font" Target="fonts/Raleway-italic.fntdata"/><Relationship Id="rId11" Type="http://schemas.openxmlformats.org/officeDocument/2006/relationships/slide" Target="slides/slide6.xml"/><Relationship Id="rId55" Type="http://schemas.openxmlformats.org/officeDocument/2006/relationships/font" Target="fonts/Nunito-bold.fntdata"/><Relationship Id="rId10" Type="http://schemas.openxmlformats.org/officeDocument/2006/relationships/slide" Target="slides/slide5.xml"/><Relationship Id="rId54" Type="http://schemas.openxmlformats.org/officeDocument/2006/relationships/font" Target="fonts/Nunito-regular.fntdata"/><Relationship Id="rId13" Type="http://schemas.openxmlformats.org/officeDocument/2006/relationships/slide" Target="slides/slide8.xml"/><Relationship Id="rId57" Type="http://schemas.openxmlformats.org/officeDocument/2006/relationships/font" Target="fonts/Nunito-boldItalic.fntdata"/><Relationship Id="rId12" Type="http://schemas.openxmlformats.org/officeDocument/2006/relationships/slide" Target="slides/slide7.xml"/><Relationship Id="rId56" Type="http://schemas.openxmlformats.org/officeDocument/2006/relationships/font" Target="fonts/Nunito-italic.fntdata"/><Relationship Id="rId15" Type="http://schemas.openxmlformats.org/officeDocument/2006/relationships/slide" Target="slides/slide10.xml"/><Relationship Id="rId59" Type="http://schemas.openxmlformats.org/officeDocument/2006/relationships/font" Target="fonts/Lato-bold.fntdata"/><Relationship Id="rId14" Type="http://schemas.openxmlformats.org/officeDocument/2006/relationships/slide" Target="slides/slide9.xml"/><Relationship Id="rId58" Type="http://schemas.openxmlformats.org/officeDocument/2006/relationships/font" Target="fonts/Lat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cc34141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dcc34141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cc34141d9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dcc34141d9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dcc34141d9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dcc34141d9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cc34141d9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cc34141d9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cc34141d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cc34141d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cc34141d9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cc34141d9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cc34141d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dcc34141d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cc34141d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cc34141d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dcc34141d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dcc34141d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dcc34141d9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dcc34141d9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dcc34141d9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dcc34141d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dcc34141d9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dcc34141d9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dcfe22c15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dcfe22c15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cc34141d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dcc34141d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cc34141d9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dcc34141d9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dcc34141d9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dcc34141d9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dcc34141d9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dcc34141d9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cc34141d9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dcc34141d9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dcc34141d9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dcc34141d9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dcc34141d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dcc34141d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dcc34141d9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dcc34141d9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cc34141d9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dcc34141d9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dcc34141d9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dcc34141d9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dcc34141d9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dcc34141d9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dcc34141d9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dcc34141d9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dcc34141d9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dcc34141d9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dcc34141d9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dcc34141d9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dcc34141d9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dcc34141d9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dcc34141d9_0_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dcc34141d9_0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cc34141d9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dcc34141d9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dcc34141d9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dcc34141d9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dcc34141d9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dcc34141d9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dcc34141d9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dcc34141d9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dcc34141d9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dcc34141d9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dcc34141d9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dcc34141d9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dcc34141d9_0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dcc34141d9_0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dcc34141d9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dcc34141d9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dcc34141d9_0_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dcc34141d9_0_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dcc34141d9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dcc34141d9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dcde64942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dcde64942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dcc34141d9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dcc34141d9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dcc34141d9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dcc34141d9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dcc34141d9_0_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dcc34141d9_0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rxiv.org/abs/2105.1520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openaccess.thecvf.com/content_cvpr_2015/papers/Long_Fully_Convolutional_Networks_2015_CVPR_paper.pdf" TargetMode="External"/><Relationship Id="rId4" Type="http://schemas.openxmlformats.org/officeDocument/2006/relationships/hyperlink" Target="https://ieeexplore.ieee.org/stamp/stamp.jsp?tp=&amp;arnumber=7913730" TargetMode="External"/><Relationship Id="rId5" Type="http://schemas.openxmlformats.org/officeDocument/2006/relationships/hyperlink" Target="https://openaccess.thecvf.com/content_ECCV_2018/papers/Hengshuang_Zhao_PSANet_Point-wise_Spatial_ECCV_2018_paper.pdf'" TargetMode="External"/><Relationship Id="rId6" Type="http://schemas.openxmlformats.org/officeDocument/2006/relationships/hyperlink" Target="https://openaccess.thecvf.com/content_ECCV_2018/papers/Liang-Chieh_Chen_Encoder-Decoder_with_Atrous_ECCV_2018_paper.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arxiv.org/pdf/2010.11929" TargetMode="External"/><Relationship Id="rId4" Type="http://schemas.openxmlformats.org/officeDocument/2006/relationships/hyperlink" Target="https://proceedings.mlr.press/v139/touvron21a/touvron21a.pdf" TargetMode="External"/><Relationship Id="rId5" Type="http://schemas.openxmlformats.org/officeDocument/2006/relationships/hyperlink" Target="https://arxiv.org/pdf/2012.15840" TargetMode="External"/><Relationship Id="rId6" Type="http://schemas.openxmlformats.org/officeDocument/2006/relationships/hyperlink" Target="https://openaccess.thecvf.com/content/ICCV2021/papers/Liu_Swin_Transformer_Hierarchical_Vision_Transformer_Using_Shifted_Windows_ICCV_2021_paper.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arxiv.org/pdf/2012.15840" TargetMode="External"/><Relationship Id="rId4" Type="http://schemas.openxmlformats.org/officeDocument/2006/relationships/hyperlink" Target="https://arxiv.org/pdf/2010.11929"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9.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8.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1.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4.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3763"/>
        </a:solidFill>
      </p:bgPr>
    </p:bg>
    <p:spTree>
      <p:nvGrpSpPr>
        <p:cNvPr id="71" name="Shape 71"/>
        <p:cNvGrpSpPr/>
        <p:nvPr/>
      </p:nvGrpSpPr>
      <p:grpSpPr>
        <a:xfrm>
          <a:off x="0" y="0"/>
          <a:ext cx="0" cy="0"/>
          <a:chOff x="0" y="0"/>
          <a:chExt cx="0" cy="0"/>
        </a:xfrm>
      </p:grpSpPr>
      <p:sp>
        <p:nvSpPr>
          <p:cNvPr id="72" name="Google Shape;72;p13"/>
          <p:cNvSpPr txBox="1"/>
          <p:nvPr>
            <p:ph idx="4294967295" type="title"/>
          </p:nvPr>
        </p:nvSpPr>
        <p:spPr>
          <a:xfrm>
            <a:off x="1060625" y="1295375"/>
            <a:ext cx="7068000" cy="83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a:solidFill>
                  <a:schemeClr val="lt1"/>
                </a:solidFill>
                <a:uFill>
                  <a:noFill/>
                </a:uFill>
                <a:hlinkClick r:id="rId3">
                  <a:extLst>
                    <a:ext uri="{A12FA001-AC4F-418D-AE19-62706E023703}">
                      <ahyp:hlinkClr val="tx"/>
                    </a:ext>
                  </a:extLst>
                </a:hlinkClick>
              </a:rPr>
              <a:t>SegFormer: Simple and Efficient Design for Semantic Segmentation with Transformers</a:t>
            </a:r>
            <a:endParaRPr>
              <a:solidFill>
                <a:schemeClr val="lt1"/>
              </a:solidFill>
            </a:endParaRPr>
          </a:p>
          <a:p>
            <a:pPr indent="0" lvl="0" marL="0" rtl="0" algn="ctr">
              <a:spcBef>
                <a:spcPts val="0"/>
              </a:spcBef>
              <a:spcAft>
                <a:spcPts val="0"/>
              </a:spcAft>
              <a:buSzPts val="990"/>
              <a:buNone/>
            </a:pPr>
            <a:r>
              <a:t/>
            </a:r>
            <a:endParaRPr>
              <a:solidFill>
                <a:schemeClr val="lt1"/>
              </a:solidFill>
            </a:endParaRPr>
          </a:p>
          <a:p>
            <a:pPr indent="0" lvl="0" marL="0" rtl="0" algn="ctr">
              <a:spcBef>
                <a:spcPts val="0"/>
              </a:spcBef>
              <a:spcAft>
                <a:spcPts val="0"/>
              </a:spcAft>
              <a:buSzPts val="990"/>
              <a:buNone/>
            </a:pPr>
            <a:r>
              <a:t/>
            </a:r>
            <a:endParaRPr>
              <a:solidFill>
                <a:schemeClr val="lt1"/>
              </a:solidFill>
            </a:endParaRPr>
          </a:p>
        </p:txBody>
      </p:sp>
      <p:sp>
        <p:nvSpPr>
          <p:cNvPr id="73" name="Google Shape;73;p13"/>
          <p:cNvSpPr txBox="1"/>
          <p:nvPr/>
        </p:nvSpPr>
        <p:spPr>
          <a:xfrm>
            <a:off x="2472525" y="4647325"/>
            <a:ext cx="3233400" cy="19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Lato"/>
                <a:ea typeface="Lato"/>
                <a:cs typeface="Lato"/>
                <a:sym typeface="Lato"/>
              </a:rPr>
              <a:t>Accepted at NeurIPS 2021</a:t>
            </a:r>
            <a:endParaRPr b="1" sz="1800">
              <a:solidFill>
                <a:schemeClr val="lt1"/>
              </a:solidFill>
              <a:latin typeface="Lato"/>
              <a:ea typeface="Lato"/>
              <a:cs typeface="Lato"/>
              <a:sym typeface="Lato"/>
            </a:endParaRPr>
          </a:p>
        </p:txBody>
      </p:sp>
      <p:sp>
        <p:nvSpPr>
          <p:cNvPr id="74" name="Google Shape;74;p13"/>
          <p:cNvSpPr txBox="1"/>
          <p:nvPr/>
        </p:nvSpPr>
        <p:spPr>
          <a:xfrm>
            <a:off x="1051900" y="3163950"/>
            <a:ext cx="7114800" cy="8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Lato"/>
                <a:ea typeface="Lato"/>
                <a:cs typeface="Lato"/>
                <a:sym typeface="Lato"/>
              </a:rPr>
              <a:t>Enze Xie</a:t>
            </a:r>
            <a:r>
              <a:rPr baseline="30000" lang="en" sz="1800">
                <a:solidFill>
                  <a:schemeClr val="lt1"/>
                </a:solidFill>
                <a:latin typeface="Lato"/>
                <a:ea typeface="Lato"/>
                <a:cs typeface="Lato"/>
                <a:sym typeface="Lato"/>
              </a:rPr>
              <a:t>1</a:t>
            </a:r>
            <a:r>
              <a:rPr lang="en" sz="1800">
                <a:solidFill>
                  <a:schemeClr val="lt1"/>
                </a:solidFill>
                <a:latin typeface="Lato"/>
                <a:ea typeface="Lato"/>
                <a:cs typeface="Lato"/>
                <a:sym typeface="Lato"/>
              </a:rPr>
              <a:t>, Wenhai Wang</a:t>
            </a:r>
            <a:r>
              <a:rPr baseline="30000" lang="en" sz="1800">
                <a:solidFill>
                  <a:schemeClr val="lt1"/>
                </a:solidFill>
                <a:latin typeface="Lato"/>
                <a:ea typeface="Lato"/>
                <a:cs typeface="Lato"/>
                <a:sym typeface="Lato"/>
              </a:rPr>
              <a:t>2</a:t>
            </a:r>
            <a:r>
              <a:rPr lang="en" sz="1800">
                <a:solidFill>
                  <a:schemeClr val="lt1"/>
                </a:solidFill>
                <a:latin typeface="Lato"/>
                <a:ea typeface="Lato"/>
                <a:cs typeface="Lato"/>
                <a:sym typeface="Lato"/>
              </a:rPr>
              <a:t>, Zhiding Yu</a:t>
            </a:r>
            <a:r>
              <a:rPr baseline="30000" lang="en" sz="1800">
                <a:solidFill>
                  <a:schemeClr val="lt1"/>
                </a:solidFill>
                <a:latin typeface="Lato"/>
                <a:ea typeface="Lato"/>
                <a:cs typeface="Lato"/>
                <a:sym typeface="Lato"/>
              </a:rPr>
              <a:t>3 </a:t>
            </a:r>
            <a:r>
              <a:rPr lang="en" sz="1800">
                <a:solidFill>
                  <a:schemeClr val="lt1"/>
                </a:solidFill>
                <a:latin typeface="Lato"/>
                <a:ea typeface="Lato"/>
                <a:cs typeface="Lato"/>
                <a:sym typeface="Lato"/>
              </a:rPr>
              <a:t>, Anima Anandkumar</a:t>
            </a:r>
            <a:r>
              <a:rPr baseline="30000" lang="en" sz="1800">
                <a:solidFill>
                  <a:schemeClr val="lt1"/>
                </a:solidFill>
                <a:latin typeface="Lato"/>
                <a:ea typeface="Lato"/>
                <a:cs typeface="Lato"/>
                <a:sym typeface="Lato"/>
              </a:rPr>
              <a:t>3,4</a:t>
            </a:r>
            <a:r>
              <a:rPr lang="en" sz="1800">
                <a:solidFill>
                  <a:schemeClr val="lt1"/>
                </a:solidFill>
                <a:latin typeface="Lato"/>
                <a:ea typeface="Lato"/>
                <a:cs typeface="Lato"/>
                <a:sym typeface="Lato"/>
              </a:rPr>
              <a:t>, Jose M., Alvarez3 Ping Luo</a:t>
            </a:r>
            <a:r>
              <a:rPr baseline="30000" lang="en" sz="1800">
                <a:solidFill>
                  <a:schemeClr val="lt1"/>
                </a:solidFill>
                <a:latin typeface="Lato"/>
                <a:ea typeface="Lato"/>
                <a:cs typeface="Lato"/>
                <a:sym typeface="Lato"/>
              </a:rPr>
              <a:t>1</a:t>
            </a:r>
            <a:r>
              <a:rPr lang="en" sz="1800">
                <a:solidFill>
                  <a:schemeClr val="lt1"/>
                </a:solidFill>
                <a:latin typeface="Lato"/>
                <a:ea typeface="Lato"/>
                <a:cs typeface="Lato"/>
                <a:sym typeface="Lato"/>
              </a:rPr>
              <a:t> </a:t>
            </a:r>
            <a:endParaRPr sz="1800">
              <a:solidFill>
                <a:schemeClr val="lt1"/>
              </a:solidFill>
              <a:latin typeface="Lato"/>
              <a:ea typeface="Lato"/>
              <a:cs typeface="Lato"/>
              <a:sym typeface="Lato"/>
            </a:endParaRPr>
          </a:p>
          <a:p>
            <a:pPr indent="0" lvl="0" marL="0" rtl="0" algn="ctr">
              <a:spcBef>
                <a:spcPts val="0"/>
              </a:spcBef>
              <a:spcAft>
                <a:spcPts val="0"/>
              </a:spcAft>
              <a:buNone/>
            </a:pPr>
            <a:r>
              <a:rPr baseline="30000" lang="en" sz="1800">
                <a:solidFill>
                  <a:schemeClr val="lt1"/>
                </a:solidFill>
                <a:latin typeface="Lato"/>
                <a:ea typeface="Lato"/>
                <a:cs typeface="Lato"/>
                <a:sym typeface="Lato"/>
              </a:rPr>
              <a:t>1</a:t>
            </a:r>
            <a:r>
              <a:rPr lang="en" sz="1800">
                <a:solidFill>
                  <a:schemeClr val="lt1"/>
                </a:solidFill>
                <a:latin typeface="Lato"/>
                <a:ea typeface="Lato"/>
                <a:cs typeface="Lato"/>
                <a:sym typeface="Lato"/>
              </a:rPr>
              <a:t>The University of Hong Kong </a:t>
            </a:r>
            <a:r>
              <a:rPr baseline="30000" lang="en" sz="1800">
                <a:solidFill>
                  <a:schemeClr val="lt1"/>
                </a:solidFill>
                <a:latin typeface="Lato"/>
                <a:ea typeface="Lato"/>
                <a:cs typeface="Lato"/>
                <a:sym typeface="Lato"/>
              </a:rPr>
              <a:t>2</a:t>
            </a:r>
            <a:r>
              <a:rPr lang="en" sz="1800">
                <a:solidFill>
                  <a:schemeClr val="lt1"/>
                </a:solidFill>
                <a:latin typeface="Lato"/>
                <a:ea typeface="Lato"/>
                <a:cs typeface="Lato"/>
                <a:sym typeface="Lato"/>
              </a:rPr>
              <a:t>Nanjing University </a:t>
            </a:r>
            <a:r>
              <a:rPr baseline="30000" lang="en" sz="1800">
                <a:solidFill>
                  <a:schemeClr val="lt1"/>
                </a:solidFill>
                <a:latin typeface="Lato"/>
                <a:ea typeface="Lato"/>
                <a:cs typeface="Lato"/>
                <a:sym typeface="Lato"/>
              </a:rPr>
              <a:t>3</a:t>
            </a:r>
            <a:r>
              <a:rPr lang="en" sz="1800">
                <a:solidFill>
                  <a:schemeClr val="lt1"/>
                </a:solidFill>
                <a:latin typeface="Lato"/>
                <a:ea typeface="Lato"/>
                <a:cs typeface="Lato"/>
                <a:sym typeface="Lato"/>
              </a:rPr>
              <a:t>NVIDIA </a:t>
            </a:r>
            <a:r>
              <a:rPr baseline="30000" lang="en" sz="1800">
                <a:solidFill>
                  <a:schemeClr val="lt1"/>
                </a:solidFill>
                <a:latin typeface="Lato"/>
                <a:ea typeface="Lato"/>
                <a:cs typeface="Lato"/>
                <a:sym typeface="Lato"/>
              </a:rPr>
              <a:t>4</a:t>
            </a:r>
            <a:r>
              <a:rPr lang="en" sz="1800">
                <a:solidFill>
                  <a:schemeClr val="lt1"/>
                </a:solidFill>
                <a:latin typeface="Lato"/>
                <a:ea typeface="Lato"/>
                <a:cs typeface="Lato"/>
                <a:sym typeface="Lato"/>
              </a:rPr>
              <a:t>Caltech</a:t>
            </a:r>
            <a:endParaRPr sz="1800">
              <a:solidFill>
                <a:schemeClr val="lt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4"/>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200">
                <a:solidFill>
                  <a:srgbClr val="273239"/>
                </a:solidFill>
                <a:highlight>
                  <a:srgbClr val="FFFFFF"/>
                </a:highlight>
                <a:latin typeface="Arial"/>
                <a:ea typeface="Arial"/>
                <a:cs typeface="Arial"/>
                <a:sym typeface="Arial"/>
              </a:rPr>
              <a:t>Semantic segmentation</a:t>
            </a:r>
            <a:endParaRPr sz="2100"/>
          </a:p>
        </p:txBody>
      </p:sp>
      <p:pic>
        <p:nvPicPr>
          <p:cNvPr id="80" name="Google Shape;80;p14"/>
          <p:cNvPicPr preferRelativeResize="0"/>
          <p:nvPr/>
        </p:nvPicPr>
        <p:blipFill>
          <a:blip r:embed="rId3">
            <a:alphaModFix/>
          </a:blip>
          <a:stretch>
            <a:fillRect/>
          </a:stretch>
        </p:blipFill>
        <p:spPr>
          <a:xfrm>
            <a:off x="4055200" y="1679625"/>
            <a:ext cx="4137275" cy="2055625"/>
          </a:xfrm>
          <a:prstGeom prst="rect">
            <a:avLst/>
          </a:prstGeom>
          <a:noFill/>
          <a:ln>
            <a:noFill/>
          </a:ln>
        </p:spPr>
      </p:pic>
      <p:sp>
        <p:nvSpPr>
          <p:cNvPr id="81" name="Google Shape;81;p14"/>
          <p:cNvSpPr txBox="1"/>
          <p:nvPr/>
        </p:nvSpPr>
        <p:spPr>
          <a:xfrm>
            <a:off x="446525" y="1883050"/>
            <a:ext cx="3266400" cy="185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273239"/>
                </a:solidFill>
                <a:highlight>
                  <a:srgbClr val="FFFFFF"/>
                </a:highlight>
                <a:latin typeface="Nunito"/>
                <a:ea typeface="Nunito"/>
                <a:cs typeface="Nunito"/>
                <a:sym typeface="Nunito"/>
              </a:rPr>
              <a:t>Semantic segmentation is a process in computer vision that focuses on assigning a class label to every pixel in an image.</a:t>
            </a:r>
            <a:endParaRPr sz="1600">
              <a:solidFill>
                <a:schemeClr val="dk2"/>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3763"/>
        </a:solidFill>
      </p:bgPr>
    </p:bg>
    <p:spTree>
      <p:nvGrpSpPr>
        <p:cNvPr id="85" name="Shape 85"/>
        <p:cNvGrpSpPr/>
        <p:nvPr/>
      </p:nvGrpSpPr>
      <p:grpSpPr>
        <a:xfrm>
          <a:off x="0" y="0"/>
          <a:ext cx="0" cy="0"/>
          <a:chOff x="0" y="0"/>
          <a:chExt cx="0" cy="0"/>
        </a:xfrm>
      </p:grpSpPr>
      <p:sp>
        <p:nvSpPr>
          <p:cNvPr id="86" name="Google Shape;86;p15"/>
          <p:cNvSpPr txBox="1"/>
          <p:nvPr>
            <p:ph idx="4294967295" type="title"/>
          </p:nvPr>
        </p:nvSpPr>
        <p:spPr>
          <a:xfrm>
            <a:off x="961225" y="1916575"/>
            <a:ext cx="7068000" cy="838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200">
                <a:solidFill>
                  <a:schemeClr val="lt1"/>
                </a:solidFill>
              </a:rPr>
              <a:t>Related Works</a:t>
            </a:r>
            <a:endParaRPr sz="32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389275" y="575950"/>
            <a:ext cx="8332500" cy="61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100">
                <a:solidFill>
                  <a:srgbClr val="073763"/>
                </a:solidFill>
              </a:rPr>
              <a:t>CNN ERA (2015–2018): Building the Foundation</a:t>
            </a:r>
            <a:endParaRPr sz="2100">
              <a:solidFill>
                <a:srgbClr val="073763"/>
              </a:solidFill>
            </a:endParaRPr>
          </a:p>
        </p:txBody>
      </p:sp>
      <p:sp>
        <p:nvSpPr>
          <p:cNvPr id="92" name="Google Shape;92;p16"/>
          <p:cNvSpPr txBox="1"/>
          <p:nvPr/>
        </p:nvSpPr>
        <p:spPr>
          <a:xfrm>
            <a:off x="561950" y="1356700"/>
            <a:ext cx="1140300" cy="505200"/>
          </a:xfrm>
          <a:prstGeom prst="rect">
            <a:avLst/>
          </a:prstGeom>
          <a:solidFill>
            <a:srgbClr val="A2C4C9"/>
          </a:solidFill>
          <a:ln cap="flat" cmpd="sng" w="38100">
            <a:solidFill>
              <a:srgbClr val="0C34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u="sng">
                <a:solidFill>
                  <a:schemeClr val="hlink"/>
                </a:solidFill>
                <a:latin typeface="Lato"/>
                <a:ea typeface="Lato"/>
                <a:cs typeface="Lato"/>
                <a:sym typeface="Lato"/>
                <a:hlinkClick r:id="rId3"/>
              </a:rPr>
              <a:t>FCN</a:t>
            </a:r>
            <a:r>
              <a:rPr baseline="30000" lang="en" sz="1500">
                <a:solidFill>
                  <a:srgbClr val="274E13"/>
                </a:solidFill>
                <a:latin typeface="Lato"/>
                <a:ea typeface="Lato"/>
                <a:cs typeface="Lato"/>
                <a:sym typeface="Lato"/>
              </a:rPr>
              <a:t>1</a:t>
            </a:r>
            <a:endParaRPr baseline="30000" sz="1500">
              <a:solidFill>
                <a:srgbClr val="274E13"/>
              </a:solidFill>
              <a:latin typeface="Lato"/>
              <a:ea typeface="Lato"/>
              <a:cs typeface="Lato"/>
              <a:sym typeface="Lato"/>
            </a:endParaRPr>
          </a:p>
        </p:txBody>
      </p:sp>
      <p:sp>
        <p:nvSpPr>
          <p:cNvPr id="93" name="Google Shape;93;p16"/>
          <p:cNvSpPr txBox="1"/>
          <p:nvPr/>
        </p:nvSpPr>
        <p:spPr>
          <a:xfrm>
            <a:off x="2493075" y="1356700"/>
            <a:ext cx="1441200" cy="505200"/>
          </a:xfrm>
          <a:prstGeom prst="rect">
            <a:avLst/>
          </a:prstGeom>
          <a:solidFill>
            <a:srgbClr val="A2C4C9"/>
          </a:solidFill>
          <a:ln cap="flat" cmpd="sng" w="38100">
            <a:solidFill>
              <a:srgbClr val="0C34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u="sng">
                <a:solidFill>
                  <a:schemeClr val="hlink"/>
                </a:solidFill>
                <a:latin typeface="Lato"/>
                <a:ea typeface="Lato"/>
                <a:cs typeface="Lato"/>
                <a:sym typeface="Lato"/>
                <a:hlinkClick r:id="rId4"/>
              </a:rPr>
              <a:t>DeepLab v2</a:t>
            </a:r>
            <a:r>
              <a:rPr baseline="30000" lang="en" sz="1500">
                <a:solidFill>
                  <a:srgbClr val="274E13"/>
                </a:solidFill>
                <a:latin typeface="Lato"/>
                <a:ea typeface="Lato"/>
                <a:cs typeface="Lato"/>
                <a:sym typeface="Lato"/>
              </a:rPr>
              <a:t>2</a:t>
            </a:r>
            <a:endParaRPr baseline="30000" sz="1500">
              <a:solidFill>
                <a:srgbClr val="274E13"/>
              </a:solidFill>
              <a:latin typeface="Lato"/>
              <a:ea typeface="Lato"/>
              <a:cs typeface="Lato"/>
              <a:sym typeface="Lato"/>
            </a:endParaRPr>
          </a:p>
        </p:txBody>
      </p:sp>
      <p:sp>
        <p:nvSpPr>
          <p:cNvPr id="94" name="Google Shape;94;p16"/>
          <p:cNvSpPr txBox="1"/>
          <p:nvPr/>
        </p:nvSpPr>
        <p:spPr>
          <a:xfrm>
            <a:off x="4965475" y="1356700"/>
            <a:ext cx="1140300" cy="505200"/>
          </a:xfrm>
          <a:prstGeom prst="rect">
            <a:avLst/>
          </a:prstGeom>
          <a:solidFill>
            <a:srgbClr val="A2C4C9"/>
          </a:solidFill>
          <a:ln cap="flat" cmpd="sng" w="38100">
            <a:solidFill>
              <a:srgbClr val="0C34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u="sng">
                <a:solidFill>
                  <a:schemeClr val="hlink"/>
                </a:solidFill>
                <a:latin typeface="Lato"/>
                <a:ea typeface="Lato"/>
                <a:cs typeface="Lato"/>
                <a:sym typeface="Lato"/>
                <a:hlinkClick r:id="rId5"/>
              </a:rPr>
              <a:t>PSPNet</a:t>
            </a:r>
            <a:r>
              <a:rPr baseline="30000" lang="en" sz="1500">
                <a:solidFill>
                  <a:srgbClr val="274E13"/>
                </a:solidFill>
                <a:latin typeface="Lato"/>
                <a:ea typeface="Lato"/>
                <a:cs typeface="Lato"/>
                <a:sym typeface="Lato"/>
              </a:rPr>
              <a:t>3</a:t>
            </a:r>
            <a:endParaRPr baseline="30000" sz="1500">
              <a:solidFill>
                <a:srgbClr val="274E13"/>
              </a:solidFill>
              <a:latin typeface="Lato"/>
              <a:ea typeface="Lato"/>
              <a:cs typeface="Lato"/>
              <a:sym typeface="Lato"/>
            </a:endParaRPr>
          </a:p>
        </p:txBody>
      </p:sp>
      <p:sp>
        <p:nvSpPr>
          <p:cNvPr id="95" name="Google Shape;95;p16"/>
          <p:cNvSpPr txBox="1"/>
          <p:nvPr/>
        </p:nvSpPr>
        <p:spPr>
          <a:xfrm>
            <a:off x="6975800" y="1356700"/>
            <a:ext cx="1560300" cy="505200"/>
          </a:xfrm>
          <a:prstGeom prst="rect">
            <a:avLst/>
          </a:prstGeom>
          <a:solidFill>
            <a:srgbClr val="A2C4C9"/>
          </a:solidFill>
          <a:ln cap="flat" cmpd="sng" w="38100">
            <a:solidFill>
              <a:srgbClr val="0C34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u="sng">
                <a:solidFill>
                  <a:schemeClr val="hlink"/>
                </a:solidFill>
                <a:latin typeface="Lato"/>
                <a:ea typeface="Lato"/>
                <a:cs typeface="Lato"/>
                <a:sym typeface="Lato"/>
                <a:hlinkClick r:id="rId6"/>
              </a:rPr>
              <a:t>DeepLab v3+</a:t>
            </a:r>
            <a:r>
              <a:rPr baseline="30000" lang="en" sz="1500">
                <a:solidFill>
                  <a:srgbClr val="274E13"/>
                </a:solidFill>
                <a:latin typeface="Lato"/>
                <a:ea typeface="Lato"/>
                <a:cs typeface="Lato"/>
                <a:sym typeface="Lato"/>
              </a:rPr>
              <a:t>4</a:t>
            </a:r>
            <a:endParaRPr baseline="30000" sz="1500">
              <a:solidFill>
                <a:srgbClr val="274E13"/>
              </a:solidFill>
              <a:latin typeface="Lato"/>
              <a:ea typeface="Lato"/>
              <a:cs typeface="Lato"/>
              <a:sym typeface="Lato"/>
            </a:endParaRPr>
          </a:p>
        </p:txBody>
      </p:sp>
      <p:sp>
        <p:nvSpPr>
          <p:cNvPr id="96" name="Google Shape;96;p16"/>
          <p:cNvSpPr txBox="1"/>
          <p:nvPr/>
        </p:nvSpPr>
        <p:spPr>
          <a:xfrm>
            <a:off x="314750" y="2232150"/>
            <a:ext cx="1634700" cy="1587000"/>
          </a:xfrm>
          <a:prstGeom prst="rect">
            <a:avLst/>
          </a:prstGeom>
          <a:solidFill>
            <a:srgbClr val="B6D7A8"/>
          </a:solidFill>
          <a:ln cap="flat" cmpd="sng" w="38100">
            <a:solidFill>
              <a:srgbClr val="274E13"/>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 sz="1500">
                <a:solidFill>
                  <a:srgbClr val="274E13"/>
                </a:solidFill>
                <a:latin typeface="Lato"/>
                <a:ea typeface="Lato"/>
                <a:cs typeface="Lato"/>
                <a:sym typeface="Lato"/>
              </a:rPr>
              <a:t>First end-to-end</a:t>
            </a:r>
            <a:endParaRPr sz="1500">
              <a:solidFill>
                <a:srgbClr val="274E13"/>
              </a:solidFill>
              <a:latin typeface="Lato"/>
              <a:ea typeface="Lato"/>
              <a:cs typeface="Lato"/>
              <a:sym typeface="Lato"/>
            </a:endParaRPr>
          </a:p>
          <a:p>
            <a:pPr indent="0" lvl="0" marL="0" rtl="0" algn="just">
              <a:spcBef>
                <a:spcPts val="0"/>
              </a:spcBef>
              <a:spcAft>
                <a:spcPts val="0"/>
              </a:spcAft>
              <a:buNone/>
            </a:pPr>
            <a:r>
              <a:rPr b="1" lang="en" sz="1500">
                <a:solidFill>
                  <a:srgbClr val="274E13"/>
                </a:solidFill>
                <a:latin typeface="Lato"/>
                <a:ea typeface="Lato"/>
                <a:cs typeface="Lato"/>
                <a:sym typeface="Lato"/>
              </a:rPr>
              <a:t>pixel predictor</a:t>
            </a:r>
            <a:r>
              <a:rPr lang="en" sz="1500">
                <a:solidFill>
                  <a:srgbClr val="274E13"/>
                </a:solidFill>
                <a:latin typeface="Lato"/>
                <a:ea typeface="Lato"/>
                <a:cs typeface="Lato"/>
                <a:sym typeface="Lato"/>
              </a:rPr>
              <a:t>.</a:t>
            </a:r>
            <a:endParaRPr sz="1500">
              <a:solidFill>
                <a:srgbClr val="274E13"/>
              </a:solidFill>
              <a:latin typeface="Lato"/>
              <a:ea typeface="Lato"/>
              <a:cs typeface="Lato"/>
              <a:sym typeface="Lato"/>
            </a:endParaRPr>
          </a:p>
          <a:p>
            <a:pPr indent="0" lvl="0" marL="0" rtl="0" algn="just">
              <a:spcBef>
                <a:spcPts val="0"/>
              </a:spcBef>
              <a:spcAft>
                <a:spcPts val="0"/>
              </a:spcAft>
              <a:buNone/>
            </a:pPr>
            <a:r>
              <a:rPr lang="en" sz="1500">
                <a:solidFill>
                  <a:srgbClr val="274E13"/>
                </a:solidFill>
                <a:latin typeface="Lato"/>
                <a:ea typeface="Lato"/>
                <a:cs typeface="Lato"/>
                <a:sym typeface="Lato"/>
              </a:rPr>
              <a:t>Skip connections</a:t>
            </a:r>
            <a:endParaRPr sz="1500">
              <a:solidFill>
                <a:srgbClr val="274E13"/>
              </a:solidFill>
              <a:latin typeface="Lato"/>
              <a:ea typeface="Lato"/>
              <a:cs typeface="Lato"/>
              <a:sym typeface="Lato"/>
            </a:endParaRPr>
          </a:p>
          <a:p>
            <a:pPr indent="0" lvl="0" marL="0" rtl="0" algn="just">
              <a:spcBef>
                <a:spcPts val="0"/>
              </a:spcBef>
              <a:spcAft>
                <a:spcPts val="0"/>
              </a:spcAft>
              <a:buNone/>
            </a:pPr>
            <a:r>
              <a:rPr b="1" lang="en" sz="1500">
                <a:solidFill>
                  <a:srgbClr val="274E13"/>
                </a:solidFill>
                <a:latin typeface="Lato"/>
                <a:ea typeface="Lato"/>
                <a:cs typeface="Lato"/>
                <a:sym typeface="Lato"/>
              </a:rPr>
              <a:t>fuse coarse +</a:t>
            </a:r>
            <a:endParaRPr b="1" sz="1500">
              <a:solidFill>
                <a:srgbClr val="274E13"/>
              </a:solidFill>
              <a:latin typeface="Lato"/>
              <a:ea typeface="Lato"/>
              <a:cs typeface="Lato"/>
              <a:sym typeface="Lato"/>
            </a:endParaRPr>
          </a:p>
          <a:p>
            <a:pPr indent="0" lvl="0" marL="0" rtl="0" algn="just">
              <a:spcBef>
                <a:spcPts val="0"/>
              </a:spcBef>
              <a:spcAft>
                <a:spcPts val="0"/>
              </a:spcAft>
              <a:buNone/>
            </a:pPr>
            <a:r>
              <a:rPr b="1" lang="en" sz="1500">
                <a:solidFill>
                  <a:srgbClr val="274E13"/>
                </a:solidFill>
                <a:latin typeface="Lato"/>
                <a:ea typeface="Lato"/>
                <a:cs typeface="Lato"/>
                <a:sym typeface="Lato"/>
              </a:rPr>
              <a:t>fine features.</a:t>
            </a:r>
            <a:endParaRPr b="1" sz="1500">
              <a:solidFill>
                <a:srgbClr val="274E13"/>
              </a:solidFill>
              <a:latin typeface="Lato"/>
              <a:ea typeface="Lato"/>
              <a:cs typeface="Lato"/>
              <a:sym typeface="Lato"/>
            </a:endParaRPr>
          </a:p>
          <a:p>
            <a:pPr indent="0" lvl="0" marL="0" rtl="0" algn="just">
              <a:spcBef>
                <a:spcPts val="0"/>
              </a:spcBef>
              <a:spcAft>
                <a:spcPts val="0"/>
              </a:spcAft>
              <a:buNone/>
            </a:pPr>
            <a:r>
              <a:rPr i="1" lang="en" sz="1500" u="sng">
                <a:solidFill>
                  <a:srgbClr val="274E13"/>
                </a:solidFill>
                <a:latin typeface="Lato"/>
                <a:ea typeface="Lato"/>
                <a:cs typeface="Lato"/>
                <a:sym typeface="Lato"/>
              </a:rPr>
              <a:t>Dense Prediction</a:t>
            </a:r>
            <a:endParaRPr i="1" sz="1500" u="sng">
              <a:solidFill>
                <a:srgbClr val="274E13"/>
              </a:solidFill>
              <a:latin typeface="Lato"/>
              <a:ea typeface="Lato"/>
              <a:cs typeface="Lato"/>
              <a:sym typeface="Lato"/>
            </a:endParaRPr>
          </a:p>
          <a:p>
            <a:pPr indent="0" lvl="0" marL="0" rtl="0" algn="just">
              <a:spcBef>
                <a:spcPts val="0"/>
              </a:spcBef>
              <a:spcAft>
                <a:spcPts val="0"/>
              </a:spcAft>
              <a:buNone/>
            </a:pPr>
            <a:r>
              <a:t/>
            </a:r>
            <a:endParaRPr sz="1500">
              <a:solidFill>
                <a:srgbClr val="274E13"/>
              </a:solidFill>
              <a:latin typeface="Lato"/>
              <a:ea typeface="Lato"/>
              <a:cs typeface="Lato"/>
              <a:sym typeface="Lato"/>
            </a:endParaRPr>
          </a:p>
        </p:txBody>
      </p:sp>
      <p:sp>
        <p:nvSpPr>
          <p:cNvPr id="97" name="Google Shape;97;p16"/>
          <p:cNvSpPr txBox="1"/>
          <p:nvPr/>
        </p:nvSpPr>
        <p:spPr>
          <a:xfrm>
            <a:off x="2059813" y="2232150"/>
            <a:ext cx="2404500" cy="1587000"/>
          </a:xfrm>
          <a:prstGeom prst="rect">
            <a:avLst/>
          </a:prstGeom>
          <a:solidFill>
            <a:srgbClr val="B6D7A8"/>
          </a:solidFill>
          <a:ln cap="flat" cmpd="sng" w="38100">
            <a:solidFill>
              <a:srgbClr val="274E13"/>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 sz="1500">
                <a:solidFill>
                  <a:srgbClr val="274E13"/>
                </a:solidFill>
                <a:latin typeface="Lato"/>
                <a:ea typeface="Lato"/>
                <a:cs typeface="Lato"/>
                <a:sym typeface="Lato"/>
              </a:rPr>
              <a:t>Dilated convolutions </a:t>
            </a:r>
            <a:r>
              <a:rPr lang="en" sz="1500">
                <a:solidFill>
                  <a:srgbClr val="274E13"/>
                </a:solidFill>
                <a:latin typeface="Lato"/>
                <a:ea typeface="Lato"/>
                <a:cs typeface="Lato"/>
                <a:sym typeface="Lato"/>
              </a:rPr>
              <a:t>+ Atrous Spatial Pyramid Pooling(</a:t>
            </a:r>
            <a:r>
              <a:rPr b="1" lang="en" sz="1500">
                <a:solidFill>
                  <a:srgbClr val="274E13"/>
                </a:solidFill>
                <a:latin typeface="Lato"/>
                <a:ea typeface="Lato"/>
                <a:cs typeface="Lato"/>
                <a:sym typeface="Lato"/>
              </a:rPr>
              <a:t>ASPP)</a:t>
            </a:r>
            <a:r>
              <a:rPr lang="en" sz="1500">
                <a:solidFill>
                  <a:srgbClr val="274E13"/>
                </a:solidFill>
                <a:latin typeface="Lato"/>
                <a:ea typeface="Lato"/>
                <a:cs typeface="Lato"/>
                <a:sym typeface="Lato"/>
              </a:rPr>
              <a:t>: multi-scale receptive field without losing resolution.</a:t>
            </a:r>
            <a:br>
              <a:rPr lang="en" sz="1500">
                <a:solidFill>
                  <a:srgbClr val="274E13"/>
                </a:solidFill>
                <a:latin typeface="Lato"/>
                <a:ea typeface="Lato"/>
                <a:cs typeface="Lato"/>
                <a:sym typeface="Lato"/>
              </a:rPr>
            </a:br>
            <a:r>
              <a:rPr i="1" lang="en" sz="1500" u="sng">
                <a:solidFill>
                  <a:srgbClr val="274E13"/>
                </a:solidFill>
                <a:latin typeface="Lato"/>
                <a:ea typeface="Lato"/>
                <a:cs typeface="Lato"/>
                <a:sym typeface="Lato"/>
              </a:rPr>
              <a:t>Multi-scale context</a:t>
            </a:r>
            <a:endParaRPr i="1" sz="1500" u="sng">
              <a:solidFill>
                <a:srgbClr val="274E13"/>
              </a:solidFill>
              <a:latin typeface="Lato"/>
              <a:ea typeface="Lato"/>
              <a:cs typeface="Lato"/>
              <a:sym typeface="Lato"/>
            </a:endParaRPr>
          </a:p>
          <a:p>
            <a:pPr indent="0" lvl="0" marL="0" rtl="0" algn="just">
              <a:spcBef>
                <a:spcPts val="0"/>
              </a:spcBef>
              <a:spcAft>
                <a:spcPts val="0"/>
              </a:spcAft>
              <a:buNone/>
            </a:pPr>
            <a:r>
              <a:t/>
            </a:r>
            <a:endParaRPr sz="1500">
              <a:solidFill>
                <a:srgbClr val="274E13"/>
              </a:solidFill>
              <a:latin typeface="Lato"/>
              <a:ea typeface="Lato"/>
              <a:cs typeface="Lato"/>
              <a:sym typeface="Lato"/>
            </a:endParaRPr>
          </a:p>
          <a:p>
            <a:pPr indent="0" lvl="0" marL="0" rtl="0" algn="just">
              <a:spcBef>
                <a:spcPts val="0"/>
              </a:spcBef>
              <a:spcAft>
                <a:spcPts val="0"/>
              </a:spcAft>
              <a:buNone/>
            </a:pPr>
            <a:r>
              <a:t/>
            </a:r>
            <a:endParaRPr sz="1500">
              <a:solidFill>
                <a:srgbClr val="274E13"/>
              </a:solidFill>
              <a:latin typeface="Lato"/>
              <a:ea typeface="Lato"/>
              <a:cs typeface="Lato"/>
              <a:sym typeface="Lato"/>
            </a:endParaRPr>
          </a:p>
        </p:txBody>
      </p:sp>
      <p:sp>
        <p:nvSpPr>
          <p:cNvPr id="98" name="Google Shape;98;p16"/>
          <p:cNvSpPr txBox="1"/>
          <p:nvPr/>
        </p:nvSpPr>
        <p:spPr>
          <a:xfrm>
            <a:off x="4572000" y="2232150"/>
            <a:ext cx="1880100" cy="1587000"/>
          </a:xfrm>
          <a:prstGeom prst="rect">
            <a:avLst/>
          </a:prstGeom>
          <a:solidFill>
            <a:srgbClr val="B6D7A8"/>
          </a:solidFill>
          <a:ln cap="flat" cmpd="sng" w="38100">
            <a:solidFill>
              <a:srgbClr val="274E1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rgbClr val="274E13"/>
                </a:solidFill>
                <a:latin typeface="Lato"/>
                <a:ea typeface="Lato"/>
                <a:cs typeface="Lato"/>
                <a:sym typeface="Lato"/>
              </a:rPr>
              <a:t>Pyramid Pooling</a:t>
            </a:r>
            <a:endParaRPr b="1" sz="1500">
              <a:solidFill>
                <a:srgbClr val="274E13"/>
              </a:solidFill>
              <a:latin typeface="Lato"/>
              <a:ea typeface="Lato"/>
              <a:cs typeface="Lato"/>
              <a:sym typeface="Lato"/>
            </a:endParaRPr>
          </a:p>
          <a:p>
            <a:pPr indent="0" lvl="0" marL="0" rtl="0" algn="ctr">
              <a:spcBef>
                <a:spcPts val="0"/>
              </a:spcBef>
              <a:spcAft>
                <a:spcPts val="0"/>
              </a:spcAft>
              <a:buNone/>
            </a:pPr>
            <a:r>
              <a:rPr lang="en" sz="1500">
                <a:solidFill>
                  <a:srgbClr val="274E13"/>
                </a:solidFill>
                <a:latin typeface="Lato"/>
                <a:ea typeface="Lato"/>
                <a:cs typeface="Lato"/>
                <a:sym typeface="Lato"/>
              </a:rPr>
              <a:t>Module pools at 4</a:t>
            </a:r>
            <a:endParaRPr sz="1500">
              <a:solidFill>
                <a:srgbClr val="274E13"/>
              </a:solidFill>
              <a:latin typeface="Lato"/>
              <a:ea typeface="Lato"/>
              <a:cs typeface="Lato"/>
              <a:sym typeface="Lato"/>
            </a:endParaRPr>
          </a:p>
          <a:p>
            <a:pPr indent="0" lvl="0" marL="0" rtl="0" algn="ctr">
              <a:spcBef>
                <a:spcPts val="0"/>
              </a:spcBef>
              <a:spcAft>
                <a:spcPts val="0"/>
              </a:spcAft>
              <a:buNone/>
            </a:pPr>
            <a:r>
              <a:rPr lang="en" sz="1500">
                <a:solidFill>
                  <a:srgbClr val="274E13"/>
                </a:solidFill>
                <a:latin typeface="Lato"/>
                <a:ea typeface="Lato"/>
                <a:cs typeface="Lato"/>
                <a:sym typeface="Lato"/>
              </a:rPr>
              <a:t>fixed scales for full</a:t>
            </a:r>
            <a:endParaRPr sz="1500">
              <a:solidFill>
                <a:srgbClr val="274E13"/>
              </a:solidFill>
              <a:latin typeface="Lato"/>
              <a:ea typeface="Lato"/>
              <a:cs typeface="Lato"/>
              <a:sym typeface="Lato"/>
            </a:endParaRPr>
          </a:p>
          <a:p>
            <a:pPr indent="0" lvl="0" marL="0" rtl="0" algn="ctr">
              <a:spcBef>
                <a:spcPts val="0"/>
              </a:spcBef>
              <a:spcAft>
                <a:spcPts val="0"/>
              </a:spcAft>
              <a:buNone/>
            </a:pPr>
            <a:r>
              <a:rPr b="1" lang="en" sz="1500">
                <a:solidFill>
                  <a:srgbClr val="274E13"/>
                </a:solidFill>
                <a:latin typeface="Lato"/>
                <a:ea typeface="Lato"/>
                <a:cs typeface="Lato"/>
                <a:sym typeface="Lato"/>
              </a:rPr>
              <a:t>scene-level context</a:t>
            </a:r>
            <a:r>
              <a:rPr lang="en" sz="1500">
                <a:solidFill>
                  <a:srgbClr val="274E13"/>
                </a:solidFill>
                <a:latin typeface="Lato"/>
                <a:ea typeface="Lato"/>
                <a:cs typeface="Lato"/>
                <a:sym typeface="Lato"/>
              </a:rPr>
              <a:t>.</a:t>
            </a:r>
            <a:endParaRPr sz="1500">
              <a:solidFill>
                <a:srgbClr val="274E13"/>
              </a:solidFill>
              <a:latin typeface="Lato"/>
              <a:ea typeface="Lato"/>
              <a:cs typeface="Lato"/>
              <a:sym typeface="Lato"/>
            </a:endParaRPr>
          </a:p>
          <a:p>
            <a:pPr indent="0" lvl="0" marL="0" rtl="0" algn="ctr">
              <a:spcBef>
                <a:spcPts val="0"/>
              </a:spcBef>
              <a:spcAft>
                <a:spcPts val="0"/>
              </a:spcAft>
              <a:buNone/>
            </a:pPr>
            <a:r>
              <a:rPr i="1" lang="en" sz="1500" u="sng">
                <a:solidFill>
                  <a:srgbClr val="274E13"/>
                </a:solidFill>
                <a:latin typeface="Lato"/>
                <a:ea typeface="Lato"/>
                <a:cs typeface="Lato"/>
                <a:sym typeface="Lato"/>
              </a:rPr>
              <a:t>Global scene understanding</a:t>
            </a:r>
            <a:endParaRPr i="1" sz="1500" u="sng">
              <a:solidFill>
                <a:srgbClr val="274E13"/>
              </a:solidFill>
              <a:latin typeface="Lato"/>
              <a:ea typeface="Lato"/>
              <a:cs typeface="Lato"/>
              <a:sym typeface="Lato"/>
            </a:endParaRPr>
          </a:p>
        </p:txBody>
      </p:sp>
      <p:sp>
        <p:nvSpPr>
          <p:cNvPr id="99" name="Google Shape;99;p16"/>
          <p:cNvSpPr txBox="1"/>
          <p:nvPr/>
        </p:nvSpPr>
        <p:spPr>
          <a:xfrm>
            <a:off x="6617800" y="2232150"/>
            <a:ext cx="2194800" cy="1587000"/>
          </a:xfrm>
          <a:prstGeom prst="rect">
            <a:avLst/>
          </a:prstGeom>
          <a:solidFill>
            <a:srgbClr val="B6D7A8"/>
          </a:solidFill>
          <a:ln cap="flat" cmpd="sng" w="38100">
            <a:solidFill>
              <a:srgbClr val="274E13"/>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 sz="1500">
                <a:solidFill>
                  <a:srgbClr val="274E13"/>
                </a:solidFill>
                <a:latin typeface="Lato"/>
                <a:ea typeface="Lato"/>
                <a:cs typeface="Lato"/>
                <a:sym typeface="Lato"/>
              </a:rPr>
              <a:t>ASPP</a:t>
            </a:r>
            <a:r>
              <a:rPr lang="en" sz="1500">
                <a:solidFill>
                  <a:srgbClr val="274E13"/>
                </a:solidFill>
                <a:latin typeface="Lato"/>
                <a:ea typeface="Lato"/>
                <a:cs typeface="Lato"/>
                <a:sym typeface="Lato"/>
              </a:rPr>
              <a:t> encoder</a:t>
            </a:r>
            <a:endParaRPr sz="1500">
              <a:solidFill>
                <a:srgbClr val="274E13"/>
              </a:solidFill>
              <a:latin typeface="Lato"/>
              <a:ea typeface="Lato"/>
              <a:cs typeface="Lato"/>
              <a:sym typeface="Lato"/>
            </a:endParaRPr>
          </a:p>
          <a:p>
            <a:pPr indent="0" lvl="0" marL="0" rtl="0" algn="just">
              <a:spcBef>
                <a:spcPts val="0"/>
              </a:spcBef>
              <a:spcAft>
                <a:spcPts val="0"/>
              </a:spcAft>
              <a:buNone/>
            </a:pPr>
            <a:r>
              <a:rPr lang="en" sz="1500">
                <a:solidFill>
                  <a:srgbClr val="274E13"/>
                </a:solidFill>
                <a:latin typeface="Lato"/>
                <a:ea typeface="Lato"/>
                <a:cs typeface="Lato"/>
                <a:sym typeface="Lato"/>
              </a:rPr>
              <a:t>+ lightweight</a:t>
            </a:r>
            <a:endParaRPr sz="1500">
              <a:solidFill>
                <a:srgbClr val="274E13"/>
              </a:solidFill>
              <a:latin typeface="Lato"/>
              <a:ea typeface="Lato"/>
              <a:cs typeface="Lato"/>
              <a:sym typeface="Lato"/>
            </a:endParaRPr>
          </a:p>
          <a:p>
            <a:pPr indent="0" lvl="0" marL="0" rtl="0" algn="just">
              <a:spcBef>
                <a:spcPts val="0"/>
              </a:spcBef>
              <a:spcAft>
                <a:spcPts val="0"/>
              </a:spcAft>
              <a:buNone/>
            </a:pPr>
            <a:r>
              <a:rPr lang="en" sz="1500">
                <a:solidFill>
                  <a:srgbClr val="274E13"/>
                </a:solidFill>
                <a:latin typeface="Lato"/>
                <a:ea typeface="Lato"/>
                <a:cs typeface="Lato"/>
                <a:sym typeface="Lato"/>
              </a:rPr>
              <a:t>decoder. Depthwise</a:t>
            </a:r>
            <a:endParaRPr sz="1500">
              <a:solidFill>
                <a:srgbClr val="274E13"/>
              </a:solidFill>
              <a:latin typeface="Lato"/>
              <a:ea typeface="Lato"/>
              <a:cs typeface="Lato"/>
              <a:sym typeface="Lato"/>
            </a:endParaRPr>
          </a:p>
          <a:p>
            <a:pPr indent="0" lvl="0" marL="0" rtl="0" algn="just">
              <a:spcBef>
                <a:spcPts val="0"/>
              </a:spcBef>
              <a:spcAft>
                <a:spcPts val="0"/>
              </a:spcAft>
              <a:buNone/>
            </a:pPr>
            <a:r>
              <a:rPr lang="en" sz="1500">
                <a:solidFill>
                  <a:srgbClr val="274E13"/>
                </a:solidFill>
                <a:latin typeface="Lato"/>
                <a:ea typeface="Lato"/>
                <a:cs typeface="Lato"/>
                <a:sym typeface="Lato"/>
              </a:rPr>
              <a:t>convs. Sharpest</a:t>
            </a:r>
            <a:endParaRPr sz="1500">
              <a:solidFill>
                <a:srgbClr val="274E13"/>
              </a:solidFill>
              <a:latin typeface="Lato"/>
              <a:ea typeface="Lato"/>
              <a:cs typeface="Lato"/>
              <a:sym typeface="Lato"/>
            </a:endParaRPr>
          </a:p>
          <a:p>
            <a:pPr indent="0" lvl="0" marL="0" rtl="0" algn="just">
              <a:spcBef>
                <a:spcPts val="0"/>
              </a:spcBef>
              <a:spcAft>
                <a:spcPts val="0"/>
              </a:spcAft>
              <a:buNone/>
            </a:pPr>
            <a:r>
              <a:rPr lang="en" sz="1500" u="sng">
                <a:solidFill>
                  <a:srgbClr val="274E13"/>
                </a:solidFill>
                <a:latin typeface="Lato"/>
                <a:ea typeface="Lato"/>
                <a:cs typeface="Lato"/>
                <a:sym typeface="Lato"/>
              </a:rPr>
              <a:t>CNN boundaries.</a:t>
            </a:r>
            <a:endParaRPr sz="1500" u="sng">
              <a:solidFill>
                <a:srgbClr val="274E13"/>
              </a:solidFill>
              <a:latin typeface="Lato"/>
              <a:ea typeface="Lato"/>
              <a:cs typeface="Lato"/>
              <a:sym typeface="Lato"/>
            </a:endParaRPr>
          </a:p>
          <a:p>
            <a:pPr indent="0" lvl="0" marL="0" rtl="0" algn="just">
              <a:spcBef>
                <a:spcPts val="0"/>
              </a:spcBef>
              <a:spcAft>
                <a:spcPts val="0"/>
              </a:spcAft>
              <a:buNone/>
            </a:pPr>
            <a:r>
              <a:rPr i="1" lang="en" sz="1500" u="sng">
                <a:solidFill>
                  <a:srgbClr val="274E13"/>
                </a:solidFill>
                <a:latin typeface="Lato"/>
                <a:ea typeface="Lato"/>
                <a:cs typeface="Lato"/>
                <a:sym typeface="Lato"/>
              </a:rPr>
              <a:t>Efficient encoder-decoder</a:t>
            </a:r>
            <a:endParaRPr i="1" sz="1500" u="sng">
              <a:solidFill>
                <a:srgbClr val="274E13"/>
              </a:solidFill>
              <a:latin typeface="Lato"/>
              <a:ea typeface="Lato"/>
              <a:cs typeface="Lato"/>
              <a:sym typeface="Lato"/>
            </a:endParaRPr>
          </a:p>
        </p:txBody>
      </p:sp>
      <p:cxnSp>
        <p:nvCxnSpPr>
          <p:cNvPr id="100" name="Google Shape;100;p16"/>
          <p:cNvCxnSpPr>
            <a:stCxn id="92" idx="3"/>
            <a:endCxn id="93" idx="1"/>
          </p:cNvCxnSpPr>
          <p:nvPr/>
        </p:nvCxnSpPr>
        <p:spPr>
          <a:xfrm>
            <a:off x="1702250" y="1609300"/>
            <a:ext cx="790800" cy="0"/>
          </a:xfrm>
          <a:prstGeom prst="straightConnector1">
            <a:avLst/>
          </a:prstGeom>
          <a:noFill/>
          <a:ln cap="flat" cmpd="sng" w="19050">
            <a:solidFill>
              <a:schemeClr val="dk2"/>
            </a:solidFill>
            <a:prstDash val="solid"/>
            <a:round/>
            <a:headEnd len="med" w="med" type="none"/>
            <a:tailEnd len="med" w="med" type="triangle"/>
          </a:ln>
        </p:spPr>
      </p:cxnSp>
      <p:cxnSp>
        <p:nvCxnSpPr>
          <p:cNvPr id="101" name="Google Shape;101;p16"/>
          <p:cNvCxnSpPr>
            <a:stCxn id="93" idx="3"/>
            <a:endCxn id="94" idx="1"/>
          </p:cNvCxnSpPr>
          <p:nvPr/>
        </p:nvCxnSpPr>
        <p:spPr>
          <a:xfrm>
            <a:off x="3934275" y="1609300"/>
            <a:ext cx="1031100" cy="0"/>
          </a:xfrm>
          <a:prstGeom prst="straightConnector1">
            <a:avLst/>
          </a:prstGeom>
          <a:noFill/>
          <a:ln cap="flat" cmpd="sng" w="19050">
            <a:solidFill>
              <a:schemeClr val="dk2"/>
            </a:solidFill>
            <a:prstDash val="solid"/>
            <a:round/>
            <a:headEnd len="med" w="med" type="none"/>
            <a:tailEnd len="med" w="med" type="triangle"/>
          </a:ln>
        </p:spPr>
      </p:cxnSp>
      <p:cxnSp>
        <p:nvCxnSpPr>
          <p:cNvPr id="102" name="Google Shape;102;p16"/>
          <p:cNvCxnSpPr>
            <a:stCxn id="94" idx="3"/>
            <a:endCxn id="95" idx="1"/>
          </p:cNvCxnSpPr>
          <p:nvPr/>
        </p:nvCxnSpPr>
        <p:spPr>
          <a:xfrm>
            <a:off x="6105775" y="1609300"/>
            <a:ext cx="870000" cy="0"/>
          </a:xfrm>
          <a:prstGeom prst="straightConnector1">
            <a:avLst/>
          </a:prstGeom>
          <a:noFill/>
          <a:ln cap="flat" cmpd="sng" w="19050">
            <a:solidFill>
              <a:schemeClr val="dk2"/>
            </a:solidFill>
            <a:prstDash val="solid"/>
            <a:round/>
            <a:headEnd len="med" w="med" type="none"/>
            <a:tailEnd len="med" w="med" type="triangle"/>
          </a:ln>
        </p:spPr>
      </p:cxnSp>
      <p:cxnSp>
        <p:nvCxnSpPr>
          <p:cNvPr id="103" name="Google Shape;103;p16"/>
          <p:cNvCxnSpPr>
            <a:stCxn id="92" idx="2"/>
            <a:endCxn id="96" idx="0"/>
          </p:cNvCxnSpPr>
          <p:nvPr/>
        </p:nvCxnSpPr>
        <p:spPr>
          <a:xfrm>
            <a:off x="1132100" y="1861900"/>
            <a:ext cx="0" cy="370200"/>
          </a:xfrm>
          <a:prstGeom prst="straightConnector1">
            <a:avLst/>
          </a:prstGeom>
          <a:noFill/>
          <a:ln cap="flat" cmpd="sng" w="19050">
            <a:solidFill>
              <a:schemeClr val="dk2"/>
            </a:solidFill>
            <a:prstDash val="solid"/>
            <a:round/>
            <a:headEnd len="med" w="med" type="none"/>
            <a:tailEnd len="med" w="med" type="triangle"/>
          </a:ln>
        </p:spPr>
      </p:cxnSp>
      <p:cxnSp>
        <p:nvCxnSpPr>
          <p:cNvPr id="104" name="Google Shape;104;p16"/>
          <p:cNvCxnSpPr/>
          <p:nvPr/>
        </p:nvCxnSpPr>
        <p:spPr>
          <a:xfrm flipH="1">
            <a:off x="3208563" y="1861900"/>
            <a:ext cx="10200" cy="370200"/>
          </a:xfrm>
          <a:prstGeom prst="straightConnector1">
            <a:avLst/>
          </a:prstGeom>
          <a:noFill/>
          <a:ln cap="flat" cmpd="sng" w="19050">
            <a:solidFill>
              <a:schemeClr val="dk2"/>
            </a:solidFill>
            <a:prstDash val="solid"/>
            <a:round/>
            <a:headEnd len="med" w="med" type="none"/>
            <a:tailEnd len="med" w="med" type="triangle"/>
          </a:ln>
        </p:spPr>
      </p:cxnSp>
      <p:cxnSp>
        <p:nvCxnSpPr>
          <p:cNvPr id="105" name="Google Shape;105;p16"/>
          <p:cNvCxnSpPr/>
          <p:nvPr/>
        </p:nvCxnSpPr>
        <p:spPr>
          <a:xfrm flipH="1">
            <a:off x="5530513" y="1861900"/>
            <a:ext cx="10200" cy="370200"/>
          </a:xfrm>
          <a:prstGeom prst="straightConnector1">
            <a:avLst/>
          </a:prstGeom>
          <a:noFill/>
          <a:ln cap="flat" cmpd="sng" w="19050">
            <a:solidFill>
              <a:schemeClr val="dk2"/>
            </a:solidFill>
            <a:prstDash val="solid"/>
            <a:round/>
            <a:headEnd len="med" w="med" type="none"/>
            <a:tailEnd len="med" w="med" type="triangle"/>
          </a:ln>
        </p:spPr>
      </p:cxnSp>
      <p:cxnSp>
        <p:nvCxnSpPr>
          <p:cNvPr id="106" name="Google Shape;106;p16"/>
          <p:cNvCxnSpPr/>
          <p:nvPr/>
        </p:nvCxnSpPr>
        <p:spPr>
          <a:xfrm flipH="1">
            <a:off x="7794988" y="1861900"/>
            <a:ext cx="10200" cy="370200"/>
          </a:xfrm>
          <a:prstGeom prst="straightConnector1">
            <a:avLst/>
          </a:prstGeom>
          <a:noFill/>
          <a:ln cap="flat" cmpd="sng" w="19050">
            <a:solidFill>
              <a:schemeClr val="dk2"/>
            </a:solidFill>
            <a:prstDash val="solid"/>
            <a:round/>
            <a:headEnd len="med" w="med" type="none"/>
            <a:tailEnd len="med" w="med" type="triangle"/>
          </a:ln>
        </p:spPr>
      </p:cxnSp>
      <p:sp>
        <p:nvSpPr>
          <p:cNvPr id="107" name="Google Shape;107;p16"/>
          <p:cNvSpPr txBox="1"/>
          <p:nvPr/>
        </p:nvSpPr>
        <p:spPr>
          <a:xfrm>
            <a:off x="389275" y="3957200"/>
            <a:ext cx="8423400" cy="1033800"/>
          </a:xfrm>
          <a:prstGeom prst="rect">
            <a:avLst/>
          </a:prstGeom>
          <a:solidFill>
            <a:srgbClr val="EA9999"/>
          </a:solidFill>
          <a:ln cap="flat" cmpd="sng" w="38100">
            <a:solidFill>
              <a:srgbClr val="66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 sz="1800">
                <a:solidFill>
                  <a:srgbClr val="660000"/>
                </a:solidFill>
                <a:latin typeface="Lato"/>
                <a:ea typeface="Lato"/>
                <a:cs typeface="Lato"/>
                <a:sym typeface="Lato"/>
              </a:rPr>
              <a:t>Shared ceiling across all CNN methods: convolution has a bounded </a:t>
            </a:r>
            <a:r>
              <a:rPr b="1" lang="en" sz="1800">
                <a:solidFill>
                  <a:srgbClr val="660000"/>
                </a:solidFill>
                <a:latin typeface="Lato"/>
                <a:ea typeface="Lato"/>
                <a:cs typeface="Lato"/>
                <a:sym typeface="Lato"/>
              </a:rPr>
              <a:t>local receptive field</a:t>
            </a:r>
            <a:r>
              <a:rPr lang="en" sz="1800">
                <a:solidFill>
                  <a:srgbClr val="660000"/>
                </a:solidFill>
                <a:latin typeface="Lato"/>
                <a:ea typeface="Lato"/>
                <a:cs typeface="Lato"/>
                <a:sym typeface="Lato"/>
              </a:rPr>
              <a:t> — true global, non-local, </a:t>
            </a:r>
            <a:r>
              <a:rPr b="1" lang="en" sz="1800">
                <a:solidFill>
                  <a:srgbClr val="660000"/>
                </a:solidFill>
                <a:latin typeface="Lato"/>
                <a:ea typeface="Lato"/>
                <a:cs typeface="Lato"/>
                <a:sym typeface="Lato"/>
              </a:rPr>
              <a:t>long-range dependence modelling</a:t>
            </a:r>
            <a:r>
              <a:rPr lang="en" sz="1800">
                <a:solidFill>
                  <a:srgbClr val="660000"/>
                </a:solidFill>
                <a:latin typeface="Lato"/>
                <a:ea typeface="Lato"/>
                <a:cs typeface="Lato"/>
                <a:sym typeface="Lato"/>
              </a:rPr>
              <a:t> is architecturally impossible. This is the gap </a:t>
            </a:r>
            <a:r>
              <a:rPr b="1" lang="en" sz="1800">
                <a:solidFill>
                  <a:srgbClr val="660000"/>
                </a:solidFill>
                <a:latin typeface="Lato"/>
                <a:ea typeface="Lato"/>
                <a:cs typeface="Lato"/>
                <a:sym typeface="Lato"/>
              </a:rPr>
              <a:t>transformers</a:t>
            </a:r>
            <a:r>
              <a:rPr lang="en" sz="1800">
                <a:solidFill>
                  <a:srgbClr val="660000"/>
                </a:solidFill>
                <a:latin typeface="Lato"/>
                <a:ea typeface="Lato"/>
                <a:cs typeface="Lato"/>
                <a:sym typeface="Lato"/>
              </a:rPr>
              <a:t> were built to fill</a:t>
            </a:r>
            <a:endParaRPr sz="1800">
              <a:solidFill>
                <a:srgbClr val="660000"/>
              </a:solidFill>
              <a:latin typeface="Lato"/>
              <a:ea typeface="Lato"/>
              <a:cs typeface="Lato"/>
              <a:sym typeface="Lato"/>
            </a:endParaRPr>
          </a:p>
          <a:p>
            <a:pPr indent="0" lvl="0" marL="0" rtl="0" algn="just">
              <a:spcBef>
                <a:spcPts val="0"/>
              </a:spcBef>
              <a:spcAft>
                <a:spcPts val="0"/>
              </a:spcAft>
              <a:buNone/>
            </a:pPr>
            <a:r>
              <a:t/>
            </a:r>
            <a:endParaRPr sz="1800">
              <a:solidFill>
                <a:srgbClr val="660000"/>
              </a:solidFill>
              <a:latin typeface="Lato"/>
              <a:ea typeface="Lato"/>
              <a:cs typeface="Lato"/>
              <a:sym typeface="Lato"/>
            </a:endParaRPr>
          </a:p>
        </p:txBody>
      </p:sp>
      <p:sp>
        <p:nvSpPr>
          <p:cNvPr id="108" name="Google Shape;108;p16"/>
          <p:cNvSpPr txBox="1"/>
          <p:nvPr/>
        </p:nvSpPr>
        <p:spPr>
          <a:xfrm>
            <a:off x="770450" y="969250"/>
            <a:ext cx="790800" cy="37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Lato"/>
                <a:ea typeface="Lato"/>
                <a:cs typeface="Lato"/>
                <a:sym typeface="Lato"/>
              </a:rPr>
              <a:t>2015</a:t>
            </a:r>
            <a:endParaRPr sz="1800">
              <a:solidFill>
                <a:schemeClr val="dk2"/>
              </a:solidFill>
              <a:latin typeface="Lato"/>
              <a:ea typeface="Lato"/>
              <a:cs typeface="Lato"/>
              <a:sym typeface="Lato"/>
            </a:endParaRPr>
          </a:p>
        </p:txBody>
      </p:sp>
      <p:sp>
        <p:nvSpPr>
          <p:cNvPr id="109" name="Google Shape;109;p16"/>
          <p:cNvSpPr txBox="1"/>
          <p:nvPr/>
        </p:nvSpPr>
        <p:spPr>
          <a:xfrm>
            <a:off x="2866675" y="969250"/>
            <a:ext cx="790800" cy="37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Lato"/>
                <a:ea typeface="Lato"/>
                <a:cs typeface="Lato"/>
                <a:sym typeface="Lato"/>
              </a:rPr>
              <a:t>2017</a:t>
            </a:r>
            <a:endParaRPr sz="1800">
              <a:solidFill>
                <a:schemeClr val="dk2"/>
              </a:solidFill>
              <a:latin typeface="Lato"/>
              <a:ea typeface="Lato"/>
              <a:cs typeface="Lato"/>
              <a:sym typeface="Lato"/>
            </a:endParaRPr>
          </a:p>
        </p:txBody>
      </p:sp>
      <p:sp>
        <p:nvSpPr>
          <p:cNvPr id="110" name="Google Shape;110;p16"/>
          <p:cNvSpPr txBox="1"/>
          <p:nvPr/>
        </p:nvSpPr>
        <p:spPr>
          <a:xfrm>
            <a:off x="5140225" y="969250"/>
            <a:ext cx="790800" cy="37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Lato"/>
                <a:ea typeface="Lato"/>
                <a:cs typeface="Lato"/>
                <a:sym typeface="Lato"/>
              </a:rPr>
              <a:t>2017</a:t>
            </a:r>
            <a:endParaRPr sz="1800">
              <a:solidFill>
                <a:schemeClr val="dk2"/>
              </a:solidFill>
              <a:latin typeface="Lato"/>
              <a:ea typeface="Lato"/>
              <a:cs typeface="Lato"/>
              <a:sym typeface="Lato"/>
            </a:endParaRPr>
          </a:p>
        </p:txBody>
      </p:sp>
      <p:sp>
        <p:nvSpPr>
          <p:cNvPr id="111" name="Google Shape;111;p16"/>
          <p:cNvSpPr txBox="1"/>
          <p:nvPr/>
        </p:nvSpPr>
        <p:spPr>
          <a:xfrm>
            <a:off x="7360550" y="969250"/>
            <a:ext cx="790800" cy="37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Lato"/>
                <a:ea typeface="Lato"/>
                <a:cs typeface="Lato"/>
                <a:sym typeface="Lato"/>
              </a:rPr>
              <a:t>2018</a:t>
            </a:r>
            <a:endParaRPr sz="1800">
              <a:solidFill>
                <a:schemeClr val="dk2"/>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389275" y="575950"/>
            <a:ext cx="8332500" cy="616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47143"/>
              <a:buNone/>
            </a:pPr>
            <a:r>
              <a:rPr lang="en" sz="2100">
                <a:solidFill>
                  <a:srgbClr val="073763"/>
                </a:solidFill>
              </a:rPr>
              <a:t>Transformer Era (2020–2021): From Classification to Segmentation</a:t>
            </a:r>
            <a:endParaRPr sz="2100">
              <a:solidFill>
                <a:srgbClr val="073763"/>
              </a:solidFill>
            </a:endParaRPr>
          </a:p>
        </p:txBody>
      </p:sp>
      <p:sp>
        <p:nvSpPr>
          <p:cNvPr id="117" name="Google Shape;117;p17"/>
          <p:cNvSpPr txBox="1"/>
          <p:nvPr/>
        </p:nvSpPr>
        <p:spPr>
          <a:xfrm>
            <a:off x="1323900" y="1323600"/>
            <a:ext cx="1140300" cy="505200"/>
          </a:xfrm>
          <a:prstGeom prst="rect">
            <a:avLst/>
          </a:prstGeom>
          <a:solidFill>
            <a:srgbClr val="A2C4C9"/>
          </a:solidFill>
          <a:ln cap="flat" cmpd="sng" w="38100">
            <a:solidFill>
              <a:srgbClr val="0C34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u="sng">
                <a:solidFill>
                  <a:schemeClr val="hlink"/>
                </a:solidFill>
                <a:latin typeface="Lato"/>
                <a:ea typeface="Lato"/>
                <a:cs typeface="Lato"/>
                <a:sym typeface="Lato"/>
                <a:hlinkClick r:id="rId3"/>
              </a:rPr>
              <a:t>ViT</a:t>
            </a:r>
            <a:r>
              <a:rPr baseline="30000" lang="en" sz="1500">
                <a:solidFill>
                  <a:srgbClr val="274E13"/>
                </a:solidFill>
                <a:latin typeface="Lato"/>
                <a:ea typeface="Lato"/>
                <a:cs typeface="Lato"/>
                <a:sym typeface="Lato"/>
              </a:rPr>
              <a:t>5</a:t>
            </a:r>
            <a:endParaRPr baseline="30000" sz="1500">
              <a:solidFill>
                <a:srgbClr val="274E13"/>
              </a:solidFill>
              <a:latin typeface="Lato"/>
              <a:ea typeface="Lato"/>
              <a:cs typeface="Lato"/>
              <a:sym typeface="Lato"/>
            </a:endParaRPr>
          </a:p>
        </p:txBody>
      </p:sp>
      <p:sp>
        <p:nvSpPr>
          <p:cNvPr id="118" name="Google Shape;118;p17"/>
          <p:cNvSpPr txBox="1"/>
          <p:nvPr/>
        </p:nvSpPr>
        <p:spPr>
          <a:xfrm>
            <a:off x="3097650" y="1323600"/>
            <a:ext cx="940500" cy="505200"/>
          </a:xfrm>
          <a:prstGeom prst="rect">
            <a:avLst/>
          </a:prstGeom>
          <a:solidFill>
            <a:srgbClr val="A2C4C9"/>
          </a:solidFill>
          <a:ln cap="flat" cmpd="sng" w="38100">
            <a:solidFill>
              <a:srgbClr val="0C34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u="sng">
                <a:solidFill>
                  <a:schemeClr val="hlink"/>
                </a:solidFill>
                <a:latin typeface="Lato"/>
                <a:ea typeface="Lato"/>
                <a:cs typeface="Lato"/>
                <a:sym typeface="Lato"/>
                <a:hlinkClick r:id="rId4"/>
              </a:rPr>
              <a:t>DeiT</a:t>
            </a:r>
            <a:r>
              <a:rPr baseline="30000" lang="en" sz="1500">
                <a:solidFill>
                  <a:srgbClr val="274E13"/>
                </a:solidFill>
                <a:latin typeface="Lato"/>
                <a:ea typeface="Lato"/>
                <a:cs typeface="Lato"/>
                <a:sym typeface="Lato"/>
              </a:rPr>
              <a:t>6</a:t>
            </a:r>
            <a:endParaRPr baseline="30000" sz="1500">
              <a:solidFill>
                <a:srgbClr val="274E13"/>
              </a:solidFill>
              <a:latin typeface="Lato"/>
              <a:ea typeface="Lato"/>
              <a:cs typeface="Lato"/>
              <a:sym typeface="Lato"/>
            </a:endParaRPr>
          </a:p>
        </p:txBody>
      </p:sp>
      <p:sp>
        <p:nvSpPr>
          <p:cNvPr id="119" name="Google Shape;119;p17"/>
          <p:cNvSpPr txBox="1"/>
          <p:nvPr/>
        </p:nvSpPr>
        <p:spPr>
          <a:xfrm>
            <a:off x="4762318" y="1323600"/>
            <a:ext cx="994200" cy="505200"/>
          </a:xfrm>
          <a:prstGeom prst="rect">
            <a:avLst/>
          </a:prstGeom>
          <a:solidFill>
            <a:srgbClr val="A2C4C9"/>
          </a:solidFill>
          <a:ln cap="flat" cmpd="sng" w="38100">
            <a:solidFill>
              <a:srgbClr val="0C34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u="sng">
                <a:solidFill>
                  <a:schemeClr val="hlink"/>
                </a:solidFill>
                <a:latin typeface="Lato"/>
                <a:ea typeface="Lato"/>
                <a:cs typeface="Lato"/>
                <a:sym typeface="Lato"/>
                <a:hlinkClick r:id="rId5"/>
              </a:rPr>
              <a:t>SETR</a:t>
            </a:r>
            <a:r>
              <a:rPr baseline="30000" lang="en" sz="1500">
                <a:solidFill>
                  <a:srgbClr val="274E13"/>
                </a:solidFill>
                <a:latin typeface="Lato"/>
                <a:ea typeface="Lato"/>
                <a:cs typeface="Lato"/>
                <a:sym typeface="Lato"/>
              </a:rPr>
              <a:t>7</a:t>
            </a:r>
            <a:endParaRPr baseline="30000" sz="1500">
              <a:solidFill>
                <a:srgbClr val="274E13"/>
              </a:solidFill>
              <a:latin typeface="Lato"/>
              <a:ea typeface="Lato"/>
              <a:cs typeface="Lato"/>
              <a:sym typeface="Lato"/>
            </a:endParaRPr>
          </a:p>
        </p:txBody>
      </p:sp>
      <p:sp>
        <p:nvSpPr>
          <p:cNvPr id="120" name="Google Shape;120;p17"/>
          <p:cNvSpPr txBox="1"/>
          <p:nvPr/>
        </p:nvSpPr>
        <p:spPr>
          <a:xfrm>
            <a:off x="6803725" y="1323600"/>
            <a:ext cx="940500" cy="505200"/>
          </a:xfrm>
          <a:prstGeom prst="rect">
            <a:avLst/>
          </a:prstGeom>
          <a:solidFill>
            <a:srgbClr val="A2C4C9"/>
          </a:solidFill>
          <a:ln cap="flat" cmpd="sng" w="38100">
            <a:solidFill>
              <a:srgbClr val="0C343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u="sng">
                <a:solidFill>
                  <a:schemeClr val="hlink"/>
                </a:solidFill>
                <a:latin typeface="Lato"/>
                <a:ea typeface="Lato"/>
                <a:cs typeface="Lato"/>
                <a:sym typeface="Lato"/>
                <a:hlinkClick r:id="rId6"/>
              </a:rPr>
              <a:t>Swin</a:t>
            </a:r>
            <a:r>
              <a:rPr baseline="30000" lang="en" sz="1500">
                <a:solidFill>
                  <a:srgbClr val="274E13"/>
                </a:solidFill>
                <a:latin typeface="Lato"/>
                <a:ea typeface="Lato"/>
                <a:cs typeface="Lato"/>
                <a:sym typeface="Lato"/>
              </a:rPr>
              <a:t>8</a:t>
            </a:r>
            <a:endParaRPr baseline="30000" sz="1500">
              <a:solidFill>
                <a:srgbClr val="274E13"/>
              </a:solidFill>
              <a:latin typeface="Lato"/>
              <a:ea typeface="Lato"/>
              <a:cs typeface="Lato"/>
              <a:sym typeface="Lato"/>
            </a:endParaRPr>
          </a:p>
        </p:txBody>
      </p:sp>
      <p:sp>
        <p:nvSpPr>
          <p:cNvPr id="121" name="Google Shape;121;p17"/>
          <p:cNvSpPr txBox="1"/>
          <p:nvPr/>
        </p:nvSpPr>
        <p:spPr>
          <a:xfrm>
            <a:off x="1076700" y="2199050"/>
            <a:ext cx="1634700" cy="1809900"/>
          </a:xfrm>
          <a:prstGeom prst="rect">
            <a:avLst/>
          </a:prstGeom>
          <a:solidFill>
            <a:srgbClr val="B6D7A8"/>
          </a:solidFill>
          <a:ln cap="flat" cmpd="sng" w="38100">
            <a:solidFill>
              <a:srgbClr val="274E13"/>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Patches as tokens.</a:t>
            </a:r>
            <a:endParaRPr sz="1500">
              <a:solidFill>
                <a:srgbClr val="274E13"/>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Global self-</a:t>
            </a:r>
            <a:endParaRPr sz="1500">
              <a:solidFill>
                <a:srgbClr val="274E13"/>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attention. Needs</a:t>
            </a:r>
            <a:endParaRPr sz="1500">
              <a:solidFill>
                <a:srgbClr val="274E13"/>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JFT-300M pre-</a:t>
            </a:r>
            <a:endParaRPr sz="1500">
              <a:solidFill>
                <a:srgbClr val="274E13"/>
              </a:solidFill>
              <a:latin typeface="Lato"/>
              <a:ea typeface="Lato"/>
              <a:cs typeface="Lato"/>
              <a:sym typeface="Lato"/>
            </a:endParaRPr>
          </a:p>
          <a:p>
            <a:pPr indent="0" lvl="0" marL="0" rtl="0" algn="just">
              <a:spcBef>
                <a:spcPts val="0"/>
              </a:spcBef>
              <a:spcAft>
                <a:spcPts val="0"/>
              </a:spcAft>
              <a:buNone/>
            </a:pPr>
            <a:r>
              <a:rPr lang="en" sz="1500">
                <a:solidFill>
                  <a:srgbClr val="274E13"/>
                </a:solidFill>
                <a:latin typeface="Lato"/>
                <a:ea typeface="Lato"/>
                <a:cs typeface="Lato"/>
                <a:sym typeface="Lato"/>
              </a:rPr>
              <a:t>training to shine.</a:t>
            </a:r>
            <a:endParaRPr sz="1500">
              <a:solidFill>
                <a:srgbClr val="274E13"/>
              </a:solidFill>
              <a:latin typeface="Lato"/>
              <a:ea typeface="Lato"/>
              <a:cs typeface="Lato"/>
              <a:sym typeface="Lato"/>
            </a:endParaRPr>
          </a:p>
          <a:p>
            <a:pPr indent="0" lvl="0" marL="0" rtl="0" algn="just">
              <a:spcBef>
                <a:spcPts val="0"/>
              </a:spcBef>
              <a:spcAft>
                <a:spcPts val="0"/>
              </a:spcAft>
              <a:buNone/>
            </a:pPr>
            <a:r>
              <a:rPr i="1" lang="en" sz="1500" u="sng">
                <a:solidFill>
                  <a:srgbClr val="274E13"/>
                </a:solidFill>
                <a:latin typeface="Lato"/>
                <a:ea typeface="Lato"/>
                <a:cs typeface="Lato"/>
                <a:sym typeface="Lato"/>
              </a:rPr>
              <a:t>Global attention </a:t>
            </a:r>
            <a:endParaRPr i="1" sz="1500" u="sng">
              <a:solidFill>
                <a:srgbClr val="274E13"/>
              </a:solidFill>
              <a:latin typeface="Lato"/>
              <a:ea typeface="Lato"/>
              <a:cs typeface="Lato"/>
              <a:sym typeface="Lato"/>
            </a:endParaRPr>
          </a:p>
          <a:p>
            <a:pPr indent="0" lvl="0" marL="0" rtl="0" algn="just">
              <a:spcBef>
                <a:spcPts val="0"/>
              </a:spcBef>
              <a:spcAft>
                <a:spcPts val="0"/>
              </a:spcAft>
              <a:buNone/>
            </a:pPr>
            <a:r>
              <a:t/>
            </a:r>
            <a:endParaRPr sz="1500">
              <a:solidFill>
                <a:srgbClr val="274E13"/>
              </a:solidFill>
              <a:latin typeface="Lato"/>
              <a:ea typeface="Lato"/>
              <a:cs typeface="Lato"/>
              <a:sym typeface="Lato"/>
            </a:endParaRPr>
          </a:p>
        </p:txBody>
      </p:sp>
      <p:sp>
        <p:nvSpPr>
          <p:cNvPr id="122" name="Google Shape;122;p17"/>
          <p:cNvSpPr txBox="1"/>
          <p:nvPr/>
        </p:nvSpPr>
        <p:spPr>
          <a:xfrm>
            <a:off x="2821775" y="2199050"/>
            <a:ext cx="1634700" cy="1809900"/>
          </a:xfrm>
          <a:prstGeom prst="rect">
            <a:avLst/>
          </a:prstGeom>
          <a:solidFill>
            <a:srgbClr val="B6D7A8"/>
          </a:solidFill>
          <a:ln cap="flat" cmpd="sng" w="38100">
            <a:solidFill>
              <a:srgbClr val="274E13"/>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ViT trained on</a:t>
            </a:r>
            <a:endParaRPr sz="1500">
              <a:solidFill>
                <a:srgbClr val="274E13"/>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ImageNet-1K</a:t>
            </a:r>
            <a:endParaRPr sz="1500">
              <a:solidFill>
                <a:srgbClr val="274E13"/>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only via CNN</a:t>
            </a:r>
            <a:endParaRPr sz="1500">
              <a:solidFill>
                <a:srgbClr val="274E13"/>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distillation token.</a:t>
            </a:r>
            <a:endParaRPr sz="1500">
              <a:solidFill>
                <a:srgbClr val="274E13"/>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Data-efficient.</a:t>
            </a:r>
            <a:endParaRPr sz="1500">
              <a:solidFill>
                <a:srgbClr val="274E13"/>
              </a:solidFill>
              <a:latin typeface="Lato"/>
              <a:ea typeface="Lato"/>
              <a:cs typeface="Lato"/>
              <a:sym typeface="Lato"/>
            </a:endParaRPr>
          </a:p>
          <a:p>
            <a:pPr indent="0" lvl="0" marL="0" rtl="0" algn="just">
              <a:spcBef>
                <a:spcPts val="0"/>
              </a:spcBef>
              <a:spcAft>
                <a:spcPts val="0"/>
              </a:spcAft>
              <a:buNone/>
            </a:pPr>
            <a:r>
              <a:rPr i="1" lang="en" sz="1500" u="sng">
                <a:solidFill>
                  <a:srgbClr val="274E13"/>
                </a:solidFill>
                <a:latin typeface="Lato"/>
                <a:ea typeface="Lato"/>
                <a:cs typeface="Lato"/>
                <a:sym typeface="Lato"/>
              </a:rPr>
              <a:t>Data efficiency</a:t>
            </a:r>
            <a:endParaRPr i="1" sz="1500" u="sng">
              <a:solidFill>
                <a:srgbClr val="274E13"/>
              </a:solidFill>
              <a:latin typeface="Lato"/>
              <a:ea typeface="Lato"/>
              <a:cs typeface="Lato"/>
              <a:sym typeface="Lato"/>
            </a:endParaRPr>
          </a:p>
        </p:txBody>
      </p:sp>
      <p:sp>
        <p:nvSpPr>
          <p:cNvPr id="123" name="Google Shape;123;p17"/>
          <p:cNvSpPr txBox="1"/>
          <p:nvPr/>
        </p:nvSpPr>
        <p:spPr>
          <a:xfrm>
            <a:off x="4601200" y="2199050"/>
            <a:ext cx="1634700" cy="1809900"/>
          </a:xfrm>
          <a:prstGeom prst="rect">
            <a:avLst/>
          </a:prstGeom>
          <a:solidFill>
            <a:srgbClr val="B6D7A8"/>
          </a:solidFill>
          <a:ln cap="flat" cmpd="sng" w="38100">
            <a:solidFill>
              <a:srgbClr val="274E13"/>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First ViT applied</a:t>
            </a:r>
            <a:endParaRPr sz="1500">
              <a:solidFill>
                <a:srgbClr val="274E13"/>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to segmentation.</a:t>
            </a:r>
            <a:endParaRPr sz="1500">
              <a:solidFill>
                <a:srgbClr val="274E13"/>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Proved transform-</a:t>
            </a:r>
            <a:endParaRPr sz="1500">
              <a:solidFill>
                <a:srgbClr val="274E13"/>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ers beat CNNs</a:t>
            </a:r>
            <a:endParaRPr sz="1500">
              <a:solidFill>
                <a:srgbClr val="274E13"/>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on dense tasks.</a:t>
            </a:r>
            <a:endParaRPr sz="1500">
              <a:solidFill>
                <a:srgbClr val="274E13"/>
              </a:solidFill>
              <a:latin typeface="Lato"/>
              <a:ea typeface="Lato"/>
              <a:cs typeface="Lato"/>
              <a:sym typeface="Lato"/>
            </a:endParaRPr>
          </a:p>
          <a:p>
            <a:pPr indent="0" lvl="0" marL="0" rtl="0" algn="just">
              <a:spcBef>
                <a:spcPts val="0"/>
              </a:spcBef>
              <a:spcAft>
                <a:spcPts val="0"/>
              </a:spcAft>
              <a:buNone/>
            </a:pPr>
            <a:r>
              <a:rPr i="1" lang="en" sz="1500" u="sng">
                <a:solidFill>
                  <a:srgbClr val="274E13"/>
                </a:solidFill>
                <a:latin typeface="Lato"/>
                <a:ea typeface="Lato"/>
                <a:cs typeface="Lato"/>
                <a:sym typeface="Lato"/>
              </a:rPr>
              <a:t>Dense prediction</a:t>
            </a:r>
            <a:endParaRPr i="1" sz="1500" u="sng">
              <a:solidFill>
                <a:srgbClr val="274E13"/>
              </a:solidFill>
              <a:latin typeface="Lato"/>
              <a:ea typeface="Lato"/>
              <a:cs typeface="Lato"/>
              <a:sym typeface="Lato"/>
            </a:endParaRPr>
          </a:p>
        </p:txBody>
      </p:sp>
      <p:sp>
        <p:nvSpPr>
          <p:cNvPr id="124" name="Google Shape;124;p17"/>
          <p:cNvSpPr txBox="1"/>
          <p:nvPr/>
        </p:nvSpPr>
        <p:spPr>
          <a:xfrm>
            <a:off x="6380625" y="2199000"/>
            <a:ext cx="1844100" cy="1809900"/>
          </a:xfrm>
          <a:prstGeom prst="rect">
            <a:avLst/>
          </a:prstGeom>
          <a:solidFill>
            <a:srgbClr val="B6D7A8"/>
          </a:solidFill>
          <a:ln cap="flat" cmpd="sng" w="38100">
            <a:solidFill>
              <a:srgbClr val="274E13"/>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Hierarchical</a:t>
            </a:r>
            <a:endParaRPr sz="1500">
              <a:solidFill>
                <a:srgbClr val="274E13"/>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stages + shifted</a:t>
            </a:r>
            <a:endParaRPr sz="1500">
              <a:solidFill>
                <a:srgbClr val="274E13"/>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local windows.</a:t>
            </a:r>
            <a:endParaRPr sz="1500">
              <a:solidFill>
                <a:srgbClr val="274E13"/>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274E13"/>
                </a:solidFill>
                <a:latin typeface="Lato"/>
                <a:ea typeface="Lato"/>
                <a:cs typeface="Lato"/>
                <a:sym typeface="Lato"/>
              </a:rPr>
              <a:t>Linear attention.</a:t>
            </a:r>
            <a:endParaRPr sz="1500">
              <a:solidFill>
                <a:srgbClr val="274E13"/>
              </a:solidFill>
              <a:latin typeface="Lato"/>
              <a:ea typeface="Lato"/>
              <a:cs typeface="Lato"/>
              <a:sym typeface="Lato"/>
            </a:endParaRPr>
          </a:p>
          <a:p>
            <a:pPr indent="0" lvl="0" marL="0" rtl="0" algn="just">
              <a:spcBef>
                <a:spcPts val="0"/>
              </a:spcBef>
              <a:spcAft>
                <a:spcPts val="0"/>
              </a:spcAft>
              <a:buNone/>
            </a:pPr>
            <a:r>
              <a:rPr lang="en" sz="1500">
                <a:solidFill>
                  <a:srgbClr val="274E13"/>
                </a:solidFill>
                <a:latin typeface="Lato"/>
                <a:ea typeface="Lato"/>
                <a:cs typeface="Lato"/>
                <a:sym typeface="Lato"/>
              </a:rPr>
              <a:t>Multi-scale output.</a:t>
            </a:r>
            <a:endParaRPr sz="1500">
              <a:solidFill>
                <a:srgbClr val="274E13"/>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i="1" lang="en" sz="1500" u="sng">
                <a:solidFill>
                  <a:srgbClr val="274E13"/>
                </a:solidFill>
                <a:latin typeface="Lato"/>
                <a:ea typeface="Lato"/>
                <a:cs typeface="Lato"/>
                <a:sym typeface="Lato"/>
              </a:rPr>
              <a:t>Hierarchy + linear att</a:t>
            </a:r>
            <a:endParaRPr i="1" sz="1500" u="sng">
              <a:solidFill>
                <a:srgbClr val="274E13"/>
              </a:solidFill>
              <a:latin typeface="Lato"/>
              <a:ea typeface="Lato"/>
              <a:cs typeface="Lato"/>
              <a:sym typeface="Lato"/>
            </a:endParaRPr>
          </a:p>
          <a:p>
            <a:pPr indent="0" lvl="0" marL="0" rtl="0" algn="just">
              <a:spcBef>
                <a:spcPts val="0"/>
              </a:spcBef>
              <a:spcAft>
                <a:spcPts val="0"/>
              </a:spcAft>
              <a:buNone/>
            </a:pPr>
            <a:r>
              <a:t/>
            </a:r>
            <a:endParaRPr sz="1500">
              <a:solidFill>
                <a:srgbClr val="274E13"/>
              </a:solidFill>
              <a:latin typeface="Lato"/>
              <a:ea typeface="Lato"/>
              <a:cs typeface="Lato"/>
              <a:sym typeface="Lato"/>
            </a:endParaRPr>
          </a:p>
        </p:txBody>
      </p:sp>
      <p:cxnSp>
        <p:nvCxnSpPr>
          <p:cNvPr id="125" name="Google Shape;125;p17"/>
          <p:cNvCxnSpPr>
            <a:stCxn id="117" idx="3"/>
            <a:endCxn id="118" idx="1"/>
          </p:cNvCxnSpPr>
          <p:nvPr/>
        </p:nvCxnSpPr>
        <p:spPr>
          <a:xfrm>
            <a:off x="2464200" y="1576200"/>
            <a:ext cx="633600" cy="0"/>
          </a:xfrm>
          <a:prstGeom prst="straightConnector1">
            <a:avLst/>
          </a:prstGeom>
          <a:noFill/>
          <a:ln cap="flat" cmpd="sng" w="19050">
            <a:solidFill>
              <a:schemeClr val="dk2"/>
            </a:solidFill>
            <a:prstDash val="solid"/>
            <a:round/>
            <a:headEnd len="med" w="med" type="none"/>
            <a:tailEnd len="med" w="med" type="triangle"/>
          </a:ln>
        </p:spPr>
      </p:cxnSp>
      <p:cxnSp>
        <p:nvCxnSpPr>
          <p:cNvPr id="126" name="Google Shape;126;p17"/>
          <p:cNvCxnSpPr>
            <a:stCxn id="118" idx="3"/>
            <a:endCxn id="119" idx="1"/>
          </p:cNvCxnSpPr>
          <p:nvPr/>
        </p:nvCxnSpPr>
        <p:spPr>
          <a:xfrm>
            <a:off x="4038150" y="1576200"/>
            <a:ext cx="724200" cy="0"/>
          </a:xfrm>
          <a:prstGeom prst="straightConnector1">
            <a:avLst/>
          </a:prstGeom>
          <a:noFill/>
          <a:ln cap="flat" cmpd="sng" w="19050">
            <a:solidFill>
              <a:schemeClr val="dk2"/>
            </a:solidFill>
            <a:prstDash val="solid"/>
            <a:round/>
            <a:headEnd len="med" w="med" type="none"/>
            <a:tailEnd len="med" w="med" type="triangle"/>
          </a:ln>
        </p:spPr>
      </p:cxnSp>
      <p:cxnSp>
        <p:nvCxnSpPr>
          <p:cNvPr id="127" name="Google Shape;127;p17"/>
          <p:cNvCxnSpPr>
            <a:stCxn id="119" idx="3"/>
            <a:endCxn id="120" idx="1"/>
          </p:cNvCxnSpPr>
          <p:nvPr/>
        </p:nvCxnSpPr>
        <p:spPr>
          <a:xfrm>
            <a:off x="5756518" y="1576200"/>
            <a:ext cx="1047300" cy="0"/>
          </a:xfrm>
          <a:prstGeom prst="straightConnector1">
            <a:avLst/>
          </a:prstGeom>
          <a:noFill/>
          <a:ln cap="flat" cmpd="sng" w="19050">
            <a:solidFill>
              <a:schemeClr val="dk2"/>
            </a:solidFill>
            <a:prstDash val="solid"/>
            <a:round/>
            <a:headEnd len="med" w="med" type="none"/>
            <a:tailEnd len="med" w="med" type="triangle"/>
          </a:ln>
        </p:spPr>
      </p:cxnSp>
      <p:cxnSp>
        <p:nvCxnSpPr>
          <p:cNvPr id="128" name="Google Shape;128;p17"/>
          <p:cNvCxnSpPr>
            <a:stCxn id="117" idx="2"/>
            <a:endCxn id="121" idx="0"/>
          </p:cNvCxnSpPr>
          <p:nvPr/>
        </p:nvCxnSpPr>
        <p:spPr>
          <a:xfrm>
            <a:off x="1894050" y="1828800"/>
            <a:ext cx="0" cy="370200"/>
          </a:xfrm>
          <a:prstGeom prst="straightConnector1">
            <a:avLst/>
          </a:prstGeom>
          <a:noFill/>
          <a:ln cap="flat" cmpd="sng" w="19050">
            <a:solidFill>
              <a:schemeClr val="dk2"/>
            </a:solidFill>
            <a:prstDash val="solid"/>
            <a:round/>
            <a:headEnd len="med" w="med" type="none"/>
            <a:tailEnd len="med" w="med" type="triangle"/>
          </a:ln>
        </p:spPr>
      </p:cxnSp>
      <p:cxnSp>
        <p:nvCxnSpPr>
          <p:cNvPr id="129" name="Google Shape;129;p17"/>
          <p:cNvCxnSpPr/>
          <p:nvPr/>
        </p:nvCxnSpPr>
        <p:spPr>
          <a:xfrm>
            <a:off x="3567900" y="1828800"/>
            <a:ext cx="0" cy="370200"/>
          </a:xfrm>
          <a:prstGeom prst="straightConnector1">
            <a:avLst/>
          </a:prstGeom>
          <a:noFill/>
          <a:ln cap="flat" cmpd="sng" w="19050">
            <a:solidFill>
              <a:schemeClr val="dk2"/>
            </a:solidFill>
            <a:prstDash val="solid"/>
            <a:round/>
            <a:headEnd len="med" w="med" type="none"/>
            <a:tailEnd len="med" w="med" type="triangle"/>
          </a:ln>
        </p:spPr>
      </p:cxnSp>
      <p:cxnSp>
        <p:nvCxnSpPr>
          <p:cNvPr id="130" name="Google Shape;130;p17"/>
          <p:cNvCxnSpPr/>
          <p:nvPr/>
        </p:nvCxnSpPr>
        <p:spPr>
          <a:xfrm>
            <a:off x="5318825" y="1828800"/>
            <a:ext cx="0" cy="370200"/>
          </a:xfrm>
          <a:prstGeom prst="straightConnector1">
            <a:avLst/>
          </a:prstGeom>
          <a:noFill/>
          <a:ln cap="flat" cmpd="sng" w="19050">
            <a:solidFill>
              <a:schemeClr val="dk2"/>
            </a:solidFill>
            <a:prstDash val="solid"/>
            <a:round/>
            <a:headEnd len="med" w="med" type="none"/>
            <a:tailEnd len="med" w="med" type="triangle"/>
          </a:ln>
        </p:spPr>
      </p:cxnSp>
      <p:cxnSp>
        <p:nvCxnSpPr>
          <p:cNvPr id="131" name="Google Shape;131;p17"/>
          <p:cNvCxnSpPr/>
          <p:nvPr/>
        </p:nvCxnSpPr>
        <p:spPr>
          <a:xfrm>
            <a:off x="7302675" y="1828800"/>
            <a:ext cx="0" cy="370200"/>
          </a:xfrm>
          <a:prstGeom prst="straightConnector1">
            <a:avLst/>
          </a:prstGeom>
          <a:noFill/>
          <a:ln cap="flat" cmpd="sng" w="19050">
            <a:solidFill>
              <a:schemeClr val="dk2"/>
            </a:solidFill>
            <a:prstDash val="solid"/>
            <a:round/>
            <a:headEnd len="med" w="med" type="none"/>
            <a:tailEnd len="med" w="med" type="triangle"/>
          </a:ln>
        </p:spPr>
      </p:cxnSp>
      <p:sp>
        <p:nvSpPr>
          <p:cNvPr id="132" name="Google Shape;132;p17"/>
          <p:cNvSpPr txBox="1"/>
          <p:nvPr/>
        </p:nvSpPr>
        <p:spPr>
          <a:xfrm>
            <a:off x="1541450" y="953400"/>
            <a:ext cx="790800" cy="37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Lato"/>
                <a:ea typeface="Lato"/>
                <a:cs typeface="Lato"/>
                <a:sym typeface="Lato"/>
              </a:rPr>
              <a:t>2020</a:t>
            </a:r>
            <a:endParaRPr sz="1800">
              <a:solidFill>
                <a:schemeClr val="dk2"/>
              </a:solidFill>
              <a:latin typeface="Lato"/>
              <a:ea typeface="Lato"/>
              <a:cs typeface="Lato"/>
              <a:sym typeface="Lato"/>
            </a:endParaRPr>
          </a:p>
        </p:txBody>
      </p:sp>
      <p:sp>
        <p:nvSpPr>
          <p:cNvPr id="133" name="Google Shape;133;p17"/>
          <p:cNvSpPr txBox="1"/>
          <p:nvPr/>
        </p:nvSpPr>
        <p:spPr>
          <a:xfrm>
            <a:off x="3151888" y="953400"/>
            <a:ext cx="790800" cy="37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Lato"/>
                <a:ea typeface="Lato"/>
                <a:cs typeface="Lato"/>
                <a:sym typeface="Lato"/>
              </a:rPr>
              <a:t>2021</a:t>
            </a:r>
            <a:endParaRPr sz="1800">
              <a:solidFill>
                <a:schemeClr val="dk2"/>
              </a:solidFill>
              <a:latin typeface="Lato"/>
              <a:ea typeface="Lato"/>
              <a:cs typeface="Lato"/>
              <a:sym typeface="Lato"/>
            </a:endParaRPr>
          </a:p>
        </p:txBody>
      </p:sp>
      <p:sp>
        <p:nvSpPr>
          <p:cNvPr id="134" name="Google Shape;134;p17"/>
          <p:cNvSpPr txBox="1"/>
          <p:nvPr/>
        </p:nvSpPr>
        <p:spPr>
          <a:xfrm>
            <a:off x="4828000" y="953400"/>
            <a:ext cx="790800" cy="37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Lato"/>
                <a:ea typeface="Lato"/>
                <a:cs typeface="Lato"/>
                <a:sym typeface="Lato"/>
              </a:rPr>
              <a:t>2021</a:t>
            </a:r>
            <a:endParaRPr sz="1800">
              <a:solidFill>
                <a:schemeClr val="dk2"/>
              </a:solidFill>
              <a:latin typeface="Lato"/>
              <a:ea typeface="Lato"/>
              <a:cs typeface="Lato"/>
              <a:sym typeface="Lato"/>
            </a:endParaRPr>
          </a:p>
        </p:txBody>
      </p:sp>
      <p:sp>
        <p:nvSpPr>
          <p:cNvPr id="135" name="Google Shape;135;p17"/>
          <p:cNvSpPr txBox="1"/>
          <p:nvPr/>
        </p:nvSpPr>
        <p:spPr>
          <a:xfrm>
            <a:off x="6878575" y="953400"/>
            <a:ext cx="790800" cy="37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Lato"/>
                <a:ea typeface="Lato"/>
                <a:cs typeface="Lato"/>
                <a:sym typeface="Lato"/>
              </a:rPr>
              <a:t>2021</a:t>
            </a:r>
            <a:endParaRPr sz="1800">
              <a:solidFill>
                <a:schemeClr val="dk2"/>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8"/>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Hard Requirements of Segmentation on a Encoder</a:t>
            </a:r>
            <a:endParaRPr sz="2100">
              <a:solidFill>
                <a:srgbClr val="073763"/>
              </a:solidFill>
            </a:endParaRPr>
          </a:p>
        </p:txBody>
      </p:sp>
      <p:sp>
        <p:nvSpPr>
          <p:cNvPr id="141" name="Google Shape;141;p18"/>
          <p:cNvSpPr txBox="1"/>
          <p:nvPr>
            <p:ph idx="1" type="body"/>
          </p:nvPr>
        </p:nvSpPr>
        <p:spPr>
          <a:xfrm>
            <a:off x="282800" y="1199050"/>
            <a:ext cx="5216400" cy="3399000"/>
          </a:xfrm>
          <a:prstGeom prst="rect">
            <a:avLst/>
          </a:prstGeom>
        </p:spPr>
        <p:txBody>
          <a:bodyPr anchorCtr="0" anchor="t" bIns="91425" lIns="91425" spcFirstLastPara="1" rIns="91425" wrap="square" tIns="91425">
            <a:normAutofit/>
          </a:bodyPr>
          <a:lstStyle/>
          <a:p>
            <a:pPr indent="-336550" lvl="0" marL="457200" rtl="0" algn="just">
              <a:lnSpc>
                <a:spcPct val="105000"/>
              </a:lnSpc>
              <a:spcBef>
                <a:spcPts val="0"/>
              </a:spcBef>
              <a:spcAft>
                <a:spcPts val="0"/>
              </a:spcAft>
              <a:buSzPts val="1700"/>
              <a:buAutoNum type="arabicPeriod"/>
            </a:pPr>
            <a:r>
              <a:rPr b="1" lang="en" sz="1700"/>
              <a:t>Multi-scale Features</a:t>
            </a:r>
            <a:r>
              <a:rPr lang="en" sz="1700"/>
              <a:t> – small </a:t>
            </a:r>
            <a:r>
              <a:rPr lang="en" sz="1700"/>
              <a:t>objects</a:t>
            </a:r>
            <a:r>
              <a:rPr lang="en" sz="1700"/>
              <a:t> need fine resolution, large regions need global context; both at once.</a:t>
            </a:r>
            <a:endParaRPr sz="1700"/>
          </a:p>
          <a:p>
            <a:pPr indent="-336550" lvl="0" marL="457200" rtl="0" algn="just">
              <a:lnSpc>
                <a:spcPct val="105000"/>
              </a:lnSpc>
              <a:spcBef>
                <a:spcPts val="0"/>
              </a:spcBef>
              <a:spcAft>
                <a:spcPts val="0"/>
              </a:spcAft>
              <a:buSzPts val="1700"/>
              <a:buAutoNum type="arabicPeriod"/>
            </a:pPr>
            <a:r>
              <a:rPr b="1" lang="en" sz="1700"/>
              <a:t>Spatial precision </a:t>
            </a:r>
            <a:r>
              <a:rPr lang="en" sz="1700"/>
              <a:t>– encoder must preserve enough details for per-pixel boundary recovery.</a:t>
            </a:r>
            <a:endParaRPr sz="1700"/>
          </a:p>
          <a:p>
            <a:pPr indent="-336550" lvl="0" marL="457200" rtl="0" algn="just">
              <a:lnSpc>
                <a:spcPct val="105000"/>
              </a:lnSpc>
              <a:spcBef>
                <a:spcPts val="0"/>
              </a:spcBef>
              <a:spcAft>
                <a:spcPts val="0"/>
              </a:spcAft>
              <a:buSzPts val="1700"/>
              <a:buAutoNum type="arabicPeriod"/>
            </a:pPr>
            <a:r>
              <a:rPr b="1" lang="en" sz="1700"/>
              <a:t>Resolution flexibility </a:t>
            </a:r>
            <a:r>
              <a:rPr lang="en" sz="1700"/>
              <a:t>– traina t 512 × 512, evaluate at 1024 × 2048 (standard in Cityscapes)</a:t>
            </a:r>
            <a:endParaRPr sz="1700"/>
          </a:p>
          <a:p>
            <a:pPr indent="-336550" lvl="0" marL="457200" rtl="0" algn="just">
              <a:lnSpc>
                <a:spcPct val="105000"/>
              </a:lnSpc>
              <a:spcBef>
                <a:spcPts val="0"/>
              </a:spcBef>
              <a:spcAft>
                <a:spcPts val="0"/>
              </a:spcAft>
              <a:buSzPts val="1700"/>
              <a:buAutoNum type="arabicPeriod"/>
            </a:pPr>
            <a:r>
              <a:rPr b="1" lang="en" sz="1700"/>
              <a:t>Computational feasibility </a:t>
            </a:r>
            <a:r>
              <a:rPr lang="en" sz="1700"/>
              <a:t>– high-res features maps create large N.</a:t>
            </a:r>
            <a:endParaRPr sz="1700"/>
          </a:p>
        </p:txBody>
      </p:sp>
      <p:sp>
        <p:nvSpPr>
          <p:cNvPr id="142" name="Google Shape;142;p18"/>
          <p:cNvSpPr txBox="1"/>
          <p:nvPr/>
        </p:nvSpPr>
        <p:spPr>
          <a:xfrm>
            <a:off x="5614850" y="1670400"/>
            <a:ext cx="3307800" cy="2348400"/>
          </a:xfrm>
          <a:prstGeom prst="rect">
            <a:avLst/>
          </a:prstGeom>
          <a:solidFill>
            <a:srgbClr val="9FC5E8"/>
          </a:solidFill>
          <a:ln cap="flat" cmpd="sng" w="38100">
            <a:solidFill>
              <a:srgbClr val="073763"/>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 sz="1800" u="sng">
                <a:solidFill>
                  <a:schemeClr val="hlink"/>
                </a:solidFill>
                <a:latin typeface="Lato"/>
                <a:ea typeface="Lato"/>
                <a:cs typeface="Lato"/>
                <a:sym typeface="Lato"/>
                <a:hlinkClick r:id="rId3"/>
              </a:rPr>
              <a:t>SETR</a:t>
            </a:r>
            <a:r>
              <a:rPr baseline="30000" lang="en" sz="1800">
                <a:solidFill>
                  <a:schemeClr val="dk2"/>
                </a:solidFill>
                <a:latin typeface="Lato"/>
                <a:ea typeface="Lato"/>
                <a:cs typeface="Lato"/>
                <a:sym typeface="Lato"/>
              </a:rPr>
              <a:t>1</a:t>
            </a:r>
            <a:r>
              <a:rPr lang="en" sz="1800">
                <a:solidFill>
                  <a:schemeClr val="dk2"/>
                </a:solidFill>
                <a:latin typeface="Lato"/>
                <a:ea typeface="Lato"/>
                <a:cs typeface="Lato"/>
                <a:sym typeface="Lato"/>
              </a:rPr>
              <a:t> </a:t>
            </a:r>
            <a:r>
              <a:rPr lang="en" sz="1800">
                <a:solidFill>
                  <a:srgbClr val="073763"/>
                </a:solidFill>
                <a:latin typeface="Lato"/>
                <a:ea typeface="Lato"/>
                <a:cs typeface="Lato"/>
                <a:sym typeface="Lato"/>
              </a:rPr>
              <a:t>uses</a:t>
            </a:r>
            <a:r>
              <a:rPr lang="en" sz="1800">
                <a:solidFill>
                  <a:schemeClr val="dk2"/>
                </a:solidFill>
                <a:latin typeface="Lato"/>
                <a:ea typeface="Lato"/>
                <a:cs typeface="Lato"/>
                <a:sym typeface="Lato"/>
              </a:rPr>
              <a:t> </a:t>
            </a:r>
            <a:r>
              <a:rPr lang="en" sz="1800" u="sng">
                <a:solidFill>
                  <a:schemeClr val="hlink"/>
                </a:solidFill>
                <a:latin typeface="Lato"/>
                <a:ea typeface="Lato"/>
                <a:cs typeface="Lato"/>
                <a:sym typeface="Lato"/>
                <a:hlinkClick r:id="rId4"/>
              </a:rPr>
              <a:t>ViT</a:t>
            </a:r>
            <a:r>
              <a:rPr baseline="30000" lang="en" sz="1800">
                <a:solidFill>
                  <a:schemeClr val="dk2"/>
                </a:solidFill>
                <a:latin typeface="Lato"/>
                <a:ea typeface="Lato"/>
                <a:cs typeface="Lato"/>
                <a:sym typeface="Lato"/>
              </a:rPr>
              <a:t>2</a:t>
            </a:r>
            <a:r>
              <a:rPr lang="en" sz="1800">
                <a:solidFill>
                  <a:schemeClr val="dk2"/>
                </a:solidFill>
                <a:latin typeface="Lato"/>
                <a:ea typeface="Lato"/>
                <a:cs typeface="Lato"/>
                <a:sym typeface="Lato"/>
              </a:rPr>
              <a:t> </a:t>
            </a:r>
            <a:r>
              <a:rPr lang="en" sz="1800">
                <a:solidFill>
                  <a:srgbClr val="20124D"/>
                </a:solidFill>
                <a:latin typeface="Lato"/>
                <a:ea typeface="Lato"/>
                <a:cs typeface="Lato"/>
                <a:sym typeface="Lato"/>
              </a:rPr>
              <a:t>which was designed for image </a:t>
            </a:r>
            <a:r>
              <a:rPr b="1" lang="en" sz="1800">
                <a:solidFill>
                  <a:srgbClr val="20124D"/>
                </a:solidFill>
                <a:latin typeface="Lato"/>
                <a:ea typeface="Lato"/>
                <a:cs typeface="Lato"/>
                <a:sym typeface="Lato"/>
              </a:rPr>
              <a:t>classification</a:t>
            </a:r>
            <a:r>
              <a:rPr lang="en" sz="1800">
                <a:solidFill>
                  <a:srgbClr val="20124D"/>
                </a:solidFill>
                <a:latin typeface="Lato"/>
                <a:ea typeface="Lato"/>
                <a:cs typeface="Lato"/>
                <a:sym typeface="Lato"/>
              </a:rPr>
              <a:t> at </a:t>
            </a:r>
            <a:r>
              <a:rPr b="1" lang="en" sz="1800">
                <a:solidFill>
                  <a:srgbClr val="20124D"/>
                </a:solidFill>
                <a:latin typeface="Lato"/>
                <a:ea typeface="Lato"/>
                <a:cs typeface="Lato"/>
                <a:sym typeface="Lato"/>
              </a:rPr>
              <a:t>224 × 224</a:t>
            </a:r>
            <a:r>
              <a:rPr lang="en" sz="1800">
                <a:solidFill>
                  <a:srgbClr val="20124D"/>
                </a:solidFill>
                <a:latin typeface="Lato"/>
                <a:ea typeface="Lato"/>
                <a:cs typeface="Lato"/>
                <a:sym typeface="Lato"/>
              </a:rPr>
              <a:t>. It was never built to meet any of these four requirements. The authors examined ViT against each one and found it failing on all four.</a:t>
            </a:r>
            <a:endParaRPr sz="1800">
              <a:solidFill>
                <a:srgbClr val="20124D"/>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3763"/>
        </a:solidFill>
      </p:bgPr>
    </p:bg>
    <p:spTree>
      <p:nvGrpSpPr>
        <p:cNvPr id="146" name="Shape 146"/>
        <p:cNvGrpSpPr/>
        <p:nvPr/>
      </p:nvGrpSpPr>
      <p:grpSpPr>
        <a:xfrm>
          <a:off x="0" y="0"/>
          <a:ext cx="0" cy="0"/>
          <a:chOff x="0" y="0"/>
          <a:chExt cx="0" cy="0"/>
        </a:xfrm>
      </p:grpSpPr>
      <p:sp>
        <p:nvSpPr>
          <p:cNvPr id="147" name="Google Shape;147;p19"/>
          <p:cNvSpPr txBox="1"/>
          <p:nvPr>
            <p:ph idx="4294967295" type="title"/>
          </p:nvPr>
        </p:nvSpPr>
        <p:spPr>
          <a:xfrm>
            <a:off x="961225" y="1916575"/>
            <a:ext cx="7068000" cy="838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200">
                <a:solidFill>
                  <a:schemeClr val="lt1"/>
                </a:solidFill>
              </a:rPr>
              <a:t>Methodology</a:t>
            </a:r>
            <a:endParaRPr sz="32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0"/>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Proposed </a:t>
            </a:r>
            <a:r>
              <a:rPr lang="en" sz="2100">
                <a:solidFill>
                  <a:srgbClr val="073763"/>
                </a:solidFill>
              </a:rPr>
              <a:t>Architecture</a:t>
            </a:r>
            <a:endParaRPr sz="2100">
              <a:solidFill>
                <a:srgbClr val="073763"/>
              </a:solidFill>
            </a:endParaRPr>
          </a:p>
        </p:txBody>
      </p:sp>
      <p:pic>
        <p:nvPicPr>
          <p:cNvPr id="153" name="Google Shape;153;p20"/>
          <p:cNvPicPr preferRelativeResize="0"/>
          <p:nvPr/>
        </p:nvPicPr>
        <p:blipFill>
          <a:blip r:embed="rId3">
            <a:alphaModFix/>
          </a:blip>
          <a:stretch>
            <a:fillRect/>
          </a:stretch>
        </p:blipFill>
        <p:spPr>
          <a:xfrm>
            <a:off x="964100" y="1111350"/>
            <a:ext cx="6945799" cy="3549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1"/>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ViT Pipeline</a:t>
            </a:r>
            <a:endParaRPr sz="2100">
              <a:solidFill>
                <a:srgbClr val="073763"/>
              </a:solidFill>
            </a:endParaRPr>
          </a:p>
        </p:txBody>
      </p:sp>
      <p:sp>
        <p:nvSpPr>
          <p:cNvPr id="159" name="Google Shape;159;p21"/>
          <p:cNvSpPr txBox="1"/>
          <p:nvPr>
            <p:ph idx="1" type="body"/>
          </p:nvPr>
        </p:nvSpPr>
        <p:spPr>
          <a:xfrm>
            <a:off x="282800" y="1199050"/>
            <a:ext cx="5050800" cy="3399000"/>
          </a:xfrm>
          <a:prstGeom prst="rect">
            <a:avLst/>
          </a:prstGeom>
        </p:spPr>
        <p:txBody>
          <a:bodyPr anchorCtr="0" anchor="t" bIns="91425" lIns="91425" spcFirstLastPara="1" rIns="91425" wrap="square" tIns="91425">
            <a:normAutofit lnSpcReduction="10000"/>
          </a:bodyPr>
          <a:lstStyle/>
          <a:p>
            <a:pPr indent="-342900" lvl="0" marL="457200" rtl="0" algn="just">
              <a:spcBef>
                <a:spcPts val="0"/>
              </a:spcBef>
              <a:spcAft>
                <a:spcPts val="0"/>
              </a:spcAft>
              <a:buSzPts val="1800"/>
              <a:buAutoNum type="arabicPeriod"/>
            </a:pPr>
            <a:r>
              <a:rPr lang="en"/>
              <a:t>Divide images into </a:t>
            </a:r>
            <a:r>
              <a:rPr b="1" lang="en"/>
              <a:t>non-overlapping</a:t>
            </a:r>
            <a:r>
              <a:rPr lang="en"/>
              <a:t> 16 × 16 patches</a:t>
            </a:r>
            <a:endParaRPr/>
          </a:p>
          <a:p>
            <a:pPr indent="-342900" lvl="0" marL="457200" rtl="0" algn="just">
              <a:spcBef>
                <a:spcPts val="0"/>
              </a:spcBef>
              <a:spcAft>
                <a:spcPts val="0"/>
              </a:spcAft>
              <a:buSzPts val="1800"/>
              <a:buAutoNum type="arabicPeriod"/>
            </a:pPr>
            <a:r>
              <a:rPr lang="en"/>
              <a:t>Flatten + Linear project each patch →one token</a:t>
            </a:r>
            <a:endParaRPr/>
          </a:p>
          <a:p>
            <a:pPr indent="-342900" lvl="0" marL="457200" rtl="0" algn="just">
              <a:spcBef>
                <a:spcPts val="0"/>
              </a:spcBef>
              <a:spcAft>
                <a:spcPts val="0"/>
              </a:spcAft>
              <a:buSzPts val="1800"/>
              <a:buAutoNum type="arabicPeriod"/>
            </a:pPr>
            <a:r>
              <a:rPr lang="en"/>
              <a:t>Add </a:t>
            </a:r>
            <a:r>
              <a:rPr b="1" lang="en"/>
              <a:t>Positional Encoding</a:t>
            </a:r>
            <a:r>
              <a:rPr lang="en"/>
              <a:t> (PE) : a fixed lookup table, one vector per position</a:t>
            </a:r>
            <a:endParaRPr/>
          </a:p>
          <a:p>
            <a:pPr indent="-342900" lvl="0" marL="457200" rtl="0" algn="just">
              <a:spcBef>
                <a:spcPts val="0"/>
              </a:spcBef>
              <a:spcAft>
                <a:spcPts val="0"/>
              </a:spcAft>
              <a:buSzPts val="1800"/>
              <a:buAutoNum type="arabicPeriod"/>
            </a:pPr>
            <a:r>
              <a:rPr lang="en"/>
              <a:t>Pass all tokens </a:t>
            </a:r>
            <a:r>
              <a:rPr lang="en"/>
              <a:t>through</a:t>
            </a:r>
            <a:r>
              <a:rPr lang="en"/>
              <a:t> transformer blocks.</a:t>
            </a:r>
            <a:endParaRPr/>
          </a:p>
          <a:p>
            <a:pPr indent="0" lvl="0" marL="0" rtl="0" algn="just">
              <a:spcBef>
                <a:spcPts val="1200"/>
              </a:spcBef>
              <a:spcAft>
                <a:spcPts val="0"/>
              </a:spcAft>
              <a:buNone/>
            </a:pPr>
            <a:r>
              <a:rPr b="1" lang="en"/>
              <a:t>Output:</a:t>
            </a:r>
            <a:endParaRPr b="1"/>
          </a:p>
          <a:p>
            <a:pPr indent="0" lvl="0" marL="0" rtl="0" algn="just">
              <a:spcBef>
                <a:spcPts val="1200"/>
              </a:spcBef>
              <a:spcAft>
                <a:spcPts val="1200"/>
              </a:spcAft>
              <a:buNone/>
            </a:pPr>
            <a:r>
              <a:rPr lang="en"/>
              <a:t>Exactly one feature map at H/16 × W/16 </a:t>
            </a:r>
            <a:r>
              <a:rPr lang="en"/>
              <a:t>resolution</a:t>
            </a:r>
            <a:r>
              <a:rPr lang="en"/>
              <a:t>. For 512 × 512 input : a 32 × 32 grid</a:t>
            </a:r>
            <a:endParaRPr/>
          </a:p>
        </p:txBody>
      </p:sp>
      <p:pic>
        <p:nvPicPr>
          <p:cNvPr id="160" name="Google Shape;160;p21"/>
          <p:cNvPicPr preferRelativeResize="0"/>
          <p:nvPr/>
        </p:nvPicPr>
        <p:blipFill>
          <a:blip r:embed="rId3">
            <a:alphaModFix/>
          </a:blip>
          <a:stretch>
            <a:fillRect/>
          </a:stretch>
        </p:blipFill>
        <p:spPr>
          <a:xfrm>
            <a:off x="5243224" y="1457325"/>
            <a:ext cx="3753775" cy="2228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2"/>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Problem 1 – Single-Scale, Low-Resolution Output</a:t>
            </a:r>
            <a:endParaRPr sz="2100">
              <a:solidFill>
                <a:srgbClr val="073763"/>
              </a:solidFill>
            </a:endParaRPr>
          </a:p>
        </p:txBody>
      </p:sp>
      <p:sp>
        <p:nvSpPr>
          <p:cNvPr id="166" name="Google Shape;166;p22"/>
          <p:cNvSpPr txBox="1"/>
          <p:nvPr>
            <p:ph idx="1" type="body"/>
          </p:nvPr>
        </p:nvSpPr>
        <p:spPr>
          <a:xfrm>
            <a:off x="272875" y="2323950"/>
            <a:ext cx="8376900" cy="21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Why this breaks segmentation:</a:t>
            </a:r>
            <a:endParaRPr b="1"/>
          </a:p>
          <a:p>
            <a:pPr indent="-342900" lvl="0" marL="457200" rtl="0" algn="l">
              <a:spcBef>
                <a:spcPts val="1200"/>
              </a:spcBef>
              <a:spcAft>
                <a:spcPts val="0"/>
              </a:spcAft>
              <a:buSzPts val="1800"/>
              <a:buAutoNum type="arabicPeriod"/>
            </a:pPr>
            <a:r>
              <a:rPr lang="en"/>
              <a:t>Must predict label for every pixel ⇒ need to </a:t>
            </a:r>
            <a:r>
              <a:rPr b="1" lang="en"/>
              <a:t>upsample 32 → 512</a:t>
            </a:r>
            <a:r>
              <a:rPr lang="en"/>
              <a:t>: a </a:t>
            </a:r>
            <a:r>
              <a:rPr b="1" lang="en"/>
              <a:t>16× upsampling</a:t>
            </a:r>
            <a:endParaRPr b="1"/>
          </a:p>
          <a:p>
            <a:pPr indent="-342900" lvl="0" marL="457200" rtl="0" algn="l">
              <a:spcBef>
                <a:spcPts val="0"/>
              </a:spcBef>
              <a:spcAft>
                <a:spcPts val="0"/>
              </a:spcAft>
              <a:buSzPts val="1800"/>
              <a:buAutoNum type="arabicPeriod"/>
            </a:pPr>
            <a:r>
              <a:rPr b="1" lang="en"/>
              <a:t>Upsampling</a:t>
            </a:r>
            <a:r>
              <a:rPr lang="en"/>
              <a:t> cannot recover </a:t>
            </a:r>
            <a:r>
              <a:rPr b="1" lang="en"/>
              <a:t>discarded</a:t>
            </a:r>
            <a:r>
              <a:rPr lang="en"/>
              <a:t> information</a:t>
            </a:r>
            <a:endParaRPr/>
          </a:p>
          <a:p>
            <a:pPr indent="-342900" lvl="0" marL="457200" rtl="0" algn="l">
              <a:spcBef>
                <a:spcPts val="0"/>
              </a:spcBef>
              <a:spcAft>
                <a:spcPts val="0"/>
              </a:spcAft>
              <a:buSzPts val="1800"/>
              <a:buAutoNum type="arabicPeriod"/>
            </a:pPr>
            <a:r>
              <a:rPr b="1" lang="en"/>
              <a:t>SETR</a:t>
            </a:r>
            <a:r>
              <a:rPr lang="en"/>
              <a:t> attaches a heavy </a:t>
            </a:r>
            <a:r>
              <a:rPr b="1" lang="en"/>
              <a:t>CNN decoder</a:t>
            </a:r>
            <a:r>
              <a:rPr lang="en"/>
              <a:t> to compensate – architectural ceiling imposed by the </a:t>
            </a:r>
            <a:r>
              <a:rPr b="1" lang="en"/>
              <a:t>single-scale design</a:t>
            </a:r>
            <a:endParaRPr b="1"/>
          </a:p>
        </p:txBody>
      </p:sp>
      <p:sp>
        <p:nvSpPr>
          <p:cNvPr id="167" name="Google Shape;167;p22"/>
          <p:cNvSpPr txBox="1"/>
          <p:nvPr/>
        </p:nvSpPr>
        <p:spPr>
          <a:xfrm>
            <a:off x="272875" y="1174250"/>
            <a:ext cx="8376900" cy="1033800"/>
          </a:xfrm>
          <a:prstGeom prst="rect">
            <a:avLst/>
          </a:prstGeom>
          <a:solidFill>
            <a:srgbClr val="EA9999"/>
          </a:solidFill>
          <a:ln cap="flat" cmpd="sng" w="38100">
            <a:solidFill>
              <a:srgbClr val="66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Clr>
                <a:schemeClr val="dk2"/>
              </a:buClr>
              <a:buSzPts val="1100"/>
              <a:buFont typeface="Arial"/>
              <a:buNone/>
            </a:pPr>
            <a:r>
              <a:rPr lang="en" sz="1800">
                <a:solidFill>
                  <a:srgbClr val="660000"/>
                </a:solidFill>
                <a:latin typeface="Lato"/>
                <a:ea typeface="Lato"/>
                <a:cs typeface="Lato"/>
                <a:sym typeface="Lato"/>
              </a:rPr>
              <a:t>ViT outputs exactly one feature map at H/16 × W/16. For 512 × 512: a 32 × 32 grid. Every 16 × 16 pixel block is compressed to a single vector — all fine detail permanently lost.</a:t>
            </a:r>
            <a:endParaRPr sz="1800">
              <a:solidFill>
                <a:srgbClr val="660000"/>
              </a:solidFill>
              <a:latin typeface="Lato"/>
              <a:ea typeface="Lato"/>
              <a:cs typeface="Lato"/>
              <a:sym typeface="Lato"/>
            </a:endParaRPr>
          </a:p>
          <a:p>
            <a:pPr indent="0" lvl="0" marL="0" rtl="0" algn="just">
              <a:spcBef>
                <a:spcPts val="0"/>
              </a:spcBef>
              <a:spcAft>
                <a:spcPts val="0"/>
              </a:spcAft>
              <a:buNone/>
            </a:pPr>
            <a:r>
              <a:t/>
            </a:r>
            <a:endParaRPr sz="1800">
              <a:solidFill>
                <a:srgbClr val="20124D"/>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3"/>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Change 1: Hierarchical Feature Representation</a:t>
            </a:r>
            <a:endParaRPr sz="2100">
              <a:solidFill>
                <a:srgbClr val="073763"/>
              </a:solidFill>
            </a:endParaRPr>
          </a:p>
        </p:txBody>
      </p:sp>
      <p:sp>
        <p:nvSpPr>
          <p:cNvPr id="173" name="Google Shape;173;p23"/>
          <p:cNvSpPr txBox="1"/>
          <p:nvPr>
            <p:ph idx="1" type="body"/>
          </p:nvPr>
        </p:nvSpPr>
        <p:spPr>
          <a:xfrm>
            <a:off x="272875" y="1109875"/>
            <a:ext cx="4621500" cy="17145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rabicPeriod"/>
            </a:pPr>
            <a:r>
              <a:rPr lang="en"/>
              <a:t>Start with H × W × 3. Each stage downsamples spatially and increases channels</a:t>
            </a:r>
            <a:endParaRPr/>
          </a:p>
          <a:p>
            <a:pPr indent="-342900" lvl="0" marL="457200" rtl="0" algn="l">
              <a:spcBef>
                <a:spcPts val="0"/>
              </a:spcBef>
              <a:spcAft>
                <a:spcPts val="0"/>
              </a:spcAft>
              <a:buSzPts val="1800"/>
              <a:buAutoNum type="arabicPeriod"/>
            </a:pPr>
            <a:r>
              <a:rPr lang="en"/>
              <a:t>C</a:t>
            </a:r>
            <a:r>
              <a:rPr baseline="-25000" lang="en"/>
              <a:t>1</a:t>
            </a:r>
            <a:r>
              <a:rPr lang="en"/>
              <a:t> &lt; C</a:t>
            </a:r>
            <a:r>
              <a:rPr baseline="-25000" lang="en"/>
              <a:t>2</a:t>
            </a:r>
            <a:r>
              <a:rPr lang="en"/>
              <a:t> &lt; C</a:t>
            </a:r>
            <a:r>
              <a:rPr baseline="-25000" lang="en"/>
              <a:t>3</a:t>
            </a:r>
            <a:r>
              <a:rPr lang="en"/>
              <a:t> &lt; C</a:t>
            </a:r>
            <a:r>
              <a:rPr baseline="-25000" lang="en"/>
              <a:t>4</a:t>
            </a:r>
            <a:r>
              <a:rPr lang="en"/>
              <a:t>: channels grow as resolution shrinks.</a:t>
            </a:r>
            <a:endParaRPr/>
          </a:p>
        </p:txBody>
      </p:sp>
      <p:pic>
        <p:nvPicPr>
          <p:cNvPr id="174" name="Google Shape;174;p23"/>
          <p:cNvPicPr preferRelativeResize="0"/>
          <p:nvPr/>
        </p:nvPicPr>
        <p:blipFill>
          <a:blip r:embed="rId3">
            <a:alphaModFix/>
          </a:blip>
          <a:stretch>
            <a:fillRect/>
          </a:stretch>
        </p:blipFill>
        <p:spPr>
          <a:xfrm>
            <a:off x="4894421" y="977571"/>
            <a:ext cx="4034250" cy="1788250"/>
          </a:xfrm>
          <a:prstGeom prst="rect">
            <a:avLst/>
          </a:prstGeom>
          <a:noFill/>
          <a:ln>
            <a:noFill/>
          </a:ln>
        </p:spPr>
      </p:pic>
      <p:pic>
        <p:nvPicPr>
          <p:cNvPr id="175" name="Google Shape;175;p23"/>
          <p:cNvPicPr preferRelativeResize="0"/>
          <p:nvPr/>
        </p:nvPicPr>
        <p:blipFill>
          <a:blip r:embed="rId4">
            <a:alphaModFix/>
          </a:blip>
          <a:stretch>
            <a:fillRect/>
          </a:stretch>
        </p:blipFill>
        <p:spPr>
          <a:xfrm>
            <a:off x="4934162" y="2824375"/>
            <a:ext cx="3954783" cy="1788250"/>
          </a:xfrm>
          <a:prstGeom prst="rect">
            <a:avLst/>
          </a:prstGeom>
          <a:noFill/>
          <a:ln>
            <a:noFill/>
          </a:ln>
        </p:spPr>
      </p:pic>
      <p:sp>
        <p:nvSpPr>
          <p:cNvPr id="176" name="Google Shape;176;p23"/>
          <p:cNvSpPr txBox="1"/>
          <p:nvPr/>
        </p:nvSpPr>
        <p:spPr>
          <a:xfrm>
            <a:off x="272875" y="2875900"/>
            <a:ext cx="4514400" cy="1714500"/>
          </a:xfrm>
          <a:prstGeom prst="rect">
            <a:avLst/>
          </a:prstGeom>
          <a:solidFill>
            <a:srgbClr val="9FC5E8"/>
          </a:solidFill>
          <a:ln cap="flat" cmpd="sng" w="38100">
            <a:solidFill>
              <a:srgbClr val="073763"/>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 sz="1700">
                <a:solidFill>
                  <a:srgbClr val="20124D"/>
                </a:solidFill>
                <a:latin typeface="Lato"/>
                <a:ea typeface="Lato"/>
                <a:cs typeface="Lato"/>
                <a:sym typeface="Lato"/>
              </a:rPr>
              <a:t>Why a hierarchy ?</a:t>
            </a:r>
            <a:endParaRPr b="1" sz="1700">
              <a:solidFill>
                <a:srgbClr val="20124D"/>
              </a:solidFill>
              <a:latin typeface="Lato"/>
              <a:ea typeface="Lato"/>
              <a:cs typeface="Lato"/>
              <a:sym typeface="Lato"/>
            </a:endParaRPr>
          </a:p>
          <a:p>
            <a:pPr indent="0" lvl="0" marL="0" rtl="0" algn="just">
              <a:spcBef>
                <a:spcPts val="0"/>
              </a:spcBef>
              <a:spcAft>
                <a:spcPts val="0"/>
              </a:spcAft>
              <a:buNone/>
            </a:pPr>
            <a:r>
              <a:rPr lang="en" sz="1700">
                <a:solidFill>
                  <a:srgbClr val="20124D"/>
                </a:solidFill>
                <a:latin typeface="Lato"/>
                <a:ea typeface="Lato"/>
                <a:cs typeface="Lato"/>
                <a:sym typeface="Lato"/>
              </a:rPr>
              <a:t>F1 has spatial precision but no semantic understanding. F4 has global semantics but no spatial precision. Segmentation needs both. ViT only gives F4 equivalent. The decoder combines all four and gets every scale.</a:t>
            </a:r>
            <a:endParaRPr sz="1700">
              <a:solidFill>
                <a:srgbClr val="20124D"/>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4"/>
          <p:cNvSpPr txBox="1"/>
          <p:nvPr>
            <p:ph type="title"/>
          </p:nvPr>
        </p:nvSpPr>
        <p:spPr>
          <a:xfrm>
            <a:off x="272875" y="575950"/>
            <a:ext cx="87882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Problem 2 — Non-Overlapping Patches Lose Boundary Information</a:t>
            </a:r>
            <a:endParaRPr sz="2100">
              <a:solidFill>
                <a:srgbClr val="073763"/>
              </a:solidFill>
            </a:endParaRPr>
          </a:p>
        </p:txBody>
      </p:sp>
      <p:sp>
        <p:nvSpPr>
          <p:cNvPr id="182" name="Google Shape;182;p24"/>
          <p:cNvSpPr txBox="1"/>
          <p:nvPr>
            <p:ph idx="1" type="body"/>
          </p:nvPr>
        </p:nvSpPr>
        <p:spPr>
          <a:xfrm>
            <a:off x="282800" y="2323950"/>
            <a:ext cx="8376900" cy="227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Why this damages segmentation specifically: </a:t>
            </a:r>
            <a:endParaRPr/>
          </a:p>
          <a:p>
            <a:pPr indent="-342900" lvl="0" marL="457200" rtl="0" algn="l">
              <a:spcBef>
                <a:spcPts val="1200"/>
              </a:spcBef>
              <a:spcAft>
                <a:spcPts val="0"/>
              </a:spcAft>
              <a:buSzPts val="1800"/>
              <a:buAutoNum type="arabicPeriod"/>
            </a:pPr>
            <a:r>
              <a:rPr lang="en"/>
              <a:t>Fine boundaries are the primary object of interest in segmentation</a:t>
            </a:r>
            <a:endParaRPr/>
          </a:p>
          <a:p>
            <a:pPr indent="-342900" lvl="0" marL="457200" rtl="0" algn="l">
              <a:spcBef>
                <a:spcPts val="0"/>
              </a:spcBef>
              <a:spcAft>
                <a:spcPts val="0"/>
              </a:spcAft>
              <a:buSzPts val="1800"/>
              <a:buAutoNum type="arabicPeriod"/>
            </a:pPr>
            <a:r>
              <a:rPr lang="en"/>
              <a:t>Edges, outlines do not align with 16 × 16 grid seams</a:t>
            </a:r>
            <a:endParaRPr/>
          </a:p>
          <a:p>
            <a:pPr indent="-342900" lvl="0" marL="457200" rtl="0" algn="l">
              <a:spcBef>
                <a:spcPts val="0"/>
              </a:spcBef>
              <a:spcAft>
                <a:spcPts val="0"/>
              </a:spcAft>
              <a:buSzPts val="1800"/>
              <a:buAutoNum type="arabicPeriod"/>
            </a:pPr>
            <a:r>
              <a:rPr lang="en"/>
              <a:t>Information lost at patch creation cannot be recovered by attention layers</a:t>
            </a:r>
            <a:endParaRPr/>
          </a:p>
          <a:p>
            <a:pPr indent="-342900" lvl="0" marL="457200" rtl="0" algn="l">
              <a:spcBef>
                <a:spcPts val="0"/>
              </a:spcBef>
              <a:spcAft>
                <a:spcPts val="0"/>
              </a:spcAft>
              <a:buSzPts val="1800"/>
              <a:buAutoNum type="arabicPeriod"/>
            </a:pPr>
            <a:r>
              <a:rPr lang="en"/>
              <a:t>Every grid seam is an artificial discontinuity injected before any learning occurs</a:t>
            </a:r>
            <a:endParaRPr/>
          </a:p>
        </p:txBody>
      </p:sp>
      <p:sp>
        <p:nvSpPr>
          <p:cNvPr id="183" name="Google Shape;183;p24"/>
          <p:cNvSpPr txBox="1"/>
          <p:nvPr/>
        </p:nvSpPr>
        <p:spPr>
          <a:xfrm>
            <a:off x="272875" y="1174250"/>
            <a:ext cx="8376900" cy="1033800"/>
          </a:xfrm>
          <a:prstGeom prst="rect">
            <a:avLst/>
          </a:prstGeom>
          <a:solidFill>
            <a:srgbClr val="EA9999"/>
          </a:solidFill>
          <a:ln cap="flat" cmpd="sng" w="38100">
            <a:solidFill>
              <a:srgbClr val="66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Clr>
                <a:schemeClr val="dk2"/>
              </a:buClr>
              <a:buSzPts val="1100"/>
              <a:buFont typeface="Arial"/>
              <a:buNone/>
            </a:pPr>
            <a:r>
              <a:rPr lang="en" sz="1800">
                <a:solidFill>
                  <a:srgbClr val="660000"/>
                </a:solidFill>
                <a:latin typeface="Lato"/>
                <a:ea typeface="Lato"/>
                <a:cs typeface="Lato"/>
                <a:sym typeface="Lato"/>
              </a:rPr>
              <a:t>ViT cuts the image into strictly disjoint 16 × 16 tiles. Any feature crossing the seam between two tiles is split. Tile A sees the left half. Tile B sees the right half. Neither knows the other exists at patch creation time.</a:t>
            </a:r>
            <a:endParaRPr sz="1800">
              <a:solidFill>
                <a:srgbClr val="660000"/>
              </a:solidFill>
              <a:latin typeface="Lato"/>
              <a:ea typeface="Lato"/>
              <a:cs typeface="Lato"/>
              <a:sym typeface="Lato"/>
            </a:endParaRPr>
          </a:p>
          <a:p>
            <a:pPr indent="0" lvl="0" marL="0" rtl="0" algn="just">
              <a:spcBef>
                <a:spcPts val="0"/>
              </a:spcBef>
              <a:spcAft>
                <a:spcPts val="0"/>
              </a:spcAft>
              <a:buNone/>
            </a:pPr>
            <a:r>
              <a:t/>
            </a:r>
            <a:endParaRPr sz="1800">
              <a:solidFill>
                <a:srgbClr val="660000"/>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5"/>
          <p:cNvSpPr txBox="1"/>
          <p:nvPr>
            <p:ph type="title"/>
          </p:nvPr>
        </p:nvSpPr>
        <p:spPr>
          <a:xfrm>
            <a:off x="272875" y="575950"/>
            <a:ext cx="87882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Change 2: Overlapping Patch Merging</a:t>
            </a:r>
            <a:endParaRPr sz="2100">
              <a:solidFill>
                <a:srgbClr val="073763"/>
              </a:solidFill>
            </a:endParaRPr>
          </a:p>
        </p:txBody>
      </p:sp>
      <p:sp>
        <p:nvSpPr>
          <p:cNvPr id="189" name="Google Shape;189;p25"/>
          <p:cNvSpPr txBox="1"/>
          <p:nvPr>
            <p:ph idx="1" type="body"/>
          </p:nvPr>
        </p:nvSpPr>
        <p:spPr>
          <a:xfrm>
            <a:off x="357350" y="1156100"/>
            <a:ext cx="4405200" cy="337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853"/>
              <a:buNone/>
            </a:pPr>
            <a:r>
              <a:rPr b="1" lang="en" sz="1795"/>
              <a:t>Parameters:</a:t>
            </a:r>
            <a:r>
              <a:rPr lang="en" sz="1795"/>
              <a:t> 𝐾 (kernel), </a:t>
            </a:r>
            <a:r>
              <a:rPr lang="en" sz="1795"/>
              <a:t>𝑆</a:t>
            </a:r>
            <a:r>
              <a:rPr lang="en" sz="1795"/>
              <a:t> (stride), </a:t>
            </a:r>
            <a:r>
              <a:rPr lang="en" sz="1795"/>
              <a:t>𝑃</a:t>
            </a:r>
            <a:r>
              <a:rPr lang="en" sz="1795"/>
              <a:t> (padding). Implemented as a single nn.Conv2D in PyTorch.</a:t>
            </a:r>
            <a:endParaRPr sz="1795"/>
          </a:p>
          <a:p>
            <a:pPr indent="0" lvl="0" marL="0" rtl="0" algn="l">
              <a:lnSpc>
                <a:spcPct val="105000"/>
              </a:lnSpc>
              <a:spcBef>
                <a:spcPts val="1200"/>
              </a:spcBef>
              <a:spcAft>
                <a:spcPts val="0"/>
              </a:spcAft>
              <a:buSzPts val="853"/>
              <a:buNone/>
            </a:pPr>
            <a:r>
              <a:t/>
            </a:r>
            <a:endParaRPr sz="1795"/>
          </a:p>
          <a:p>
            <a:pPr indent="0" lvl="0" marL="0" rtl="0" algn="l">
              <a:lnSpc>
                <a:spcPct val="105000"/>
              </a:lnSpc>
              <a:spcBef>
                <a:spcPts val="1200"/>
              </a:spcBef>
              <a:spcAft>
                <a:spcPts val="0"/>
              </a:spcAft>
              <a:buSzPts val="853"/>
              <a:buNone/>
            </a:pPr>
            <a:r>
              <a:t/>
            </a:r>
            <a:endParaRPr sz="1795"/>
          </a:p>
          <a:p>
            <a:pPr indent="0" lvl="0" marL="0" rtl="0" algn="l">
              <a:lnSpc>
                <a:spcPct val="105000"/>
              </a:lnSpc>
              <a:spcBef>
                <a:spcPts val="1200"/>
              </a:spcBef>
              <a:spcAft>
                <a:spcPts val="0"/>
              </a:spcAft>
              <a:buSzPts val="853"/>
              <a:buNone/>
            </a:pPr>
            <a:r>
              <a:t/>
            </a:r>
            <a:endParaRPr sz="1795"/>
          </a:p>
          <a:p>
            <a:pPr indent="0" lvl="0" marL="0" rtl="0" algn="l">
              <a:lnSpc>
                <a:spcPct val="105000"/>
              </a:lnSpc>
              <a:spcBef>
                <a:spcPts val="1200"/>
              </a:spcBef>
              <a:spcAft>
                <a:spcPts val="1200"/>
              </a:spcAft>
              <a:buSzPts val="853"/>
              <a:buNone/>
            </a:pPr>
            <a:r>
              <a:rPr b="1" lang="en" sz="1795"/>
              <a:t>What overlapping means:</a:t>
            </a:r>
            <a:r>
              <a:rPr lang="en" sz="1795"/>
              <a:t> Stride </a:t>
            </a:r>
            <a:r>
              <a:rPr lang="en" sz="1795"/>
              <a:t>𝑆</a:t>
            </a:r>
            <a:r>
              <a:rPr lang="en" sz="1795"/>
              <a:t> &lt; </a:t>
            </a:r>
            <a:r>
              <a:rPr lang="en" sz="1795"/>
              <a:t>𝐾</a:t>
            </a:r>
            <a:r>
              <a:rPr lang="en" sz="1795"/>
              <a:t>, so adjacent output positions draw from overlapping input regions. With </a:t>
            </a:r>
            <a:r>
              <a:rPr lang="en" sz="1795"/>
              <a:t>𝐾</a:t>
            </a:r>
            <a:r>
              <a:rPr lang="en" sz="1795"/>
              <a:t> = 7, </a:t>
            </a:r>
            <a:r>
              <a:rPr lang="en" sz="1795"/>
              <a:t>𝑆</a:t>
            </a:r>
            <a:r>
              <a:rPr lang="en" sz="1795"/>
              <a:t> = 4: overlap of 3 pixels on each side.</a:t>
            </a:r>
            <a:endParaRPr sz="1795"/>
          </a:p>
        </p:txBody>
      </p:sp>
      <p:pic>
        <p:nvPicPr>
          <p:cNvPr id="190" name="Google Shape;190;p25"/>
          <p:cNvPicPr preferRelativeResize="0"/>
          <p:nvPr/>
        </p:nvPicPr>
        <p:blipFill>
          <a:blip r:embed="rId3">
            <a:alphaModFix/>
          </a:blip>
          <a:stretch>
            <a:fillRect/>
          </a:stretch>
        </p:blipFill>
        <p:spPr>
          <a:xfrm>
            <a:off x="870875" y="2303513"/>
            <a:ext cx="3046800" cy="1079575"/>
          </a:xfrm>
          <a:prstGeom prst="rect">
            <a:avLst/>
          </a:prstGeom>
          <a:noFill/>
          <a:ln>
            <a:noFill/>
          </a:ln>
        </p:spPr>
      </p:pic>
      <p:pic>
        <p:nvPicPr>
          <p:cNvPr id="191" name="Google Shape;191;p25"/>
          <p:cNvPicPr preferRelativeResize="0"/>
          <p:nvPr/>
        </p:nvPicPr>
        <p:blipFill>
          <a:blip r:embed="rId4">
            <a:alphaModFix/>
          </a:blip>
          <a:stretch>
            <a:fillRect/>
          </a:stretch>
        </p:blipFill>
        <p:spPr>
          <a:xfrm>
            <a:off x="5565900" y="862875"/>
            <a:ext cx="2874681" cy="1714500"/>
          </a:xfrm>
          <a:prstGeom prst="rect">
            <a:avLst/>
          </a:prstGeom>
          <a:noFill/>
          <a:ln>
            <a:noFill/>
          </a:ln>
        </p:spPr>
      </p:pic>
      <p:sp>
        <p:nvSpPr>
          <p:cNvPr id="192" name="Google Shape;192;p25"/>
          <p:cNvSpPr txBox="1"/>
          <p:nvPr/>
        </p:nvSpPr>
        <p:spPr>
          <a:xfrm>
            <a:off x="4671400" y="2675275"/>
            <a:ext cx="4340100" cy="1921500"/>
          </a:xfrm>
          <a:prstGeom prst="rect">
            <a:avLst/>
          </a:prstGeom>
          <a:solidFill>
            <a:srgbClr val="9FC5E8"/>
          </a:solidFill>
          <a:ln cap="flat" cmpd="sng" w="38100">
            <a:solidFill>
              <a:srgbClr val="073763"/>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 sz="1700">
                <a:solidFill>
                  <a:srgbClr val="20124D"/>
                </a:solidFill>
                <a:latin typeface="Lato"/>
                <a:ea typeface="Lato"/>
                <a:cs typeface="Lato"/>
                <a:sym typeface="Lato"/>
              </a:rPr>
              <a:t>Why overlapping? </a:t>
            </a:r>
            <a:endParaRPr b="1" sz="1700">
              <a:solidFill>
                <a:srgbClr val="20124D"/>
              </a:solidFill>
              <a:latin typeface="Lato"/>
              <a:ea typeface="Lato"/>
              <a:cs typeface="Lato"/>
              <a:sym typeface="Lato"/>
            </a:endParaRPr>
          </a:p>
          <a:p>
            <a:pPr indent="0" lvl="0" marL="0" rtl="0" algn="just">
              <a:spcBef>
                <a:spcPts val="0"/>
              </a:spcBef>
              <a:spcAft>
                <a:spcPts val="0"/>
              </a:spcAft>
              <a:buNone/>
            </a:pPr>
            <a:r>
              <a:rPr lang="en" sz="1700">
                <a:solidFill>
                  <a:srgbClr val="20124D"/>
                </a:solidFill>
                <a:latin typeface="Lato"/>
                <a:ea typeface="Lato"/>
                <a:cs typeface="Lato"/>
                <a:sym typeface="Lato"/>
              </a:rPr>
              <a:t>Every output token now sees into its neighbors’ territory. The model can coherently learn features that span patch boundaries — crucial for detecting edges and contours that are not confined to neat squares.</a:t>
            </a:r>
            <a:endParaRPr sz="1700">
              <a:solidFill>
                <a:srgbClr val="20124D"/>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6"/>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Problem 3 – Self-Attention Cost</a:t>
            </a:r>
            <a:endParaRPr sz="2100">
              <a:solidFill>
                <a:srgbClr val="073763"/>
              </a:solidFill>
            </a:endParaRPr>
          </a:p>
        </p:txBody>
      </p:sp>
      <p:sp>
        <p:nvSpPr>
          <p:cNvPr id="198" name="Google Shape;198;p26"/>
          <p:cNvSpPr txBox="1"/>
          <p:nvPr>
            <p:ph idx="1" type="body"/>
          </p:nvPr>
        </p:nvSpPr>
        <p:spPr>
          <a:xfrm>
            <a:off x="282800" y="2385400"/>
            <a:ext cx="8376900" cy="127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ViT was designed for image classification at 224 × 224 with 16 × 16 patches, giving N = 196. </a:t>
            </a:r>
            <a:r>
              <a:rPr b="1" lang="en"/>
              <a:t>N</a:t>
            </a:r>
            <a:r>
              <a:rPr b="1" baseline="30000" lang="en"/>
              <a:t>2</a:t>
            </a:r>
            <a:r>
              <a:rPr b="1" lang="en"/>
              <a:t> = 38,416</a:t>
            </a:r>
            <a:endParaRPr b="1"/>
          </a:p>
          <a:p>
            <a:pPr indent="0" lvl="0" marL="0" rtl="0" algn="l">
              <a:spcBef>
                <a:spcPts val="1200"/>
              </a:spcBef>
              <a:spcAft>
                <a:spcPts val="1200"/>
              </a:spcAft>
              <a:buNone/>
            </a:pPr>
            <a:r>
              <a:rPr b="1" lang="en"/>
              <a:t>Cost at high resolution:</a:t>
            </a:r>
            <a:endParaRPr b="1"/>
          </a:p>
        </p:txBody>
      </p:sp>
      <p:sp>
        <p:nvSpPr>
          <p:cNvPr id="199" name="Google Shape;199;p26"/>
          <p:cNvSpPr txBox="1"/>
          <p:nvPr/>
        </p:nvSpPr>
        <p:spPr>
          <a:xfrm>
            <a:off x="272875" y="1174250"/>
            <a:ext cx="8376900" cy="1033800"/>
          </a:xfrm>
          <a:prstGeom prst="rect">
            <a:avLst/>
          </a:prstGeom>
          <a:solidFill>
            <a:srgbClr val="EA9999"/>
          </a:solidFill>
          <a:ln cap="flat" cmpd="sng" w="38100">
            <a:solidFill>
              <a:srgbClr val="66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 sz="1800">
                <a:solidFill>
                  <a:srgbClr val="660000"/>
                </a:solidFill>
                <a:latin typeface="Lato"/>
                <a:ea typeface="Lato"/>
                <a:cs typeface="Lato"/>
                <a:sym typeface="Lato"/>
              </a:rPr>
              <a:t>Standard self-attention computes the matrix product QKT where Q, K ∈ R</a:t>
            </a:r>
            <a:r>
              <a:rPr baseline="30000" lang="en" sz="1800">
                <a:solidFill>
                  <a:srgbClr val="660000"/>
                </a:solidFill>
                <a:latin typeface="Lato"/>
                <a:ea typeface="Lato"/>
                <a:cs typeface="Lato"/>
                <a:sym typeface="Lato"/>
              </a:rPr>
              <a:t>N×C.</a:t>
            </a:r>
            <a:r>
              <a:rPr lang="en" sz="1800">
                <a:solidFill>
                  <a:srgbClr val="660000"/>
                </a:solidFill>
                <a:latin typeface="Lato"/>
                <a:ea typeface="Lato"/>
                <a:cs typeface="Lato"/>
                <a:sym typeface="Lato"/>
              </a:rPr>
              <a:t> The resulting attention matrix is N × N. Memory and computational cost scale as     O(N</a:t>
            </a:r>
            <a:r>
              <a:rPr baseline="30000" lang="en" sz="1800">
                <a:solidFill>
                  <a:srgbClr val="660000"/>
                </a:solidFill>
                <a:latin typeface="Lato"/>
                <a:ea typeface="Lato"/>
                <a:cs typeface="Lato"/>
                <a:sym typeface="Lato"/>
              </a:rPr>
              <a:t>2</a:t>
            </a:r>
            <a:r>
              <a:rPr lang="en" sz="1800">
                <a:solidFill>
                  <a:srgbClr val="660000"/>
                </a:solidFill>
                <a:latin typeface="Lato"/>
                <a:ea typeface="Lato"/>
                <a:cs typeface="Lato"/>
                <a:sym typeface="Lato"/>
              </a:rPr>
              <a:t> ), where N is the number of tokens.</a:t>
            </a:r>
            <a:endParaRPr sz="1800">
              <a:solidFill>
                <a:srgbClr val="20124D"/>
              </a:solidFill>
              <a:latin typeface="Lato"/>
              <a:ea typeface="Lato"/>
              <a:cs typeface="Lato"/>
              <a:sym typeface="Lato"/>
            </a:endParaRPr>
          </a:p>
        </p:txBody>
      </p:sp>
      <p:pic>
        <p:nvPicPr>
          <p:cNvPr id="200" name="Google Shape;200;p26"/>
          <p:cNvPicPr preferRelativeResize="0"/>
          <p:nvPr/>
        </p:nvPicPr>
        <p:blipFill>
          <a:blip r:embed="rId3">
            <a:alphaModFix/>
          </a:blip>
          <a:stretch>
            <a:fillRect/>
          </a:stretch>
        </p:blipFill>
        <p:spPr>
          <a:xfrm>
            <a:off x="2952026" y="3250225"/>
            <a:ext cx="3384175" cy="1315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7"/>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Change 3 – Efficient Self-Attention Cost</a:t>
            </a:r>
            <a:endParaRPr sz="2100">
              <a:solidFill>
                <a:srgbClr val="073763"/>
              </a:solidFill>
            </a:endParaRPr>
          </a:p>
        </p:txBody>
      </p:sp>
      <p:pic>
        <p:nvPicPr>
          <p:cNvPr id="206" name="Google Shape;206;p27"/>
          <p:cNvPicPr preferRelativeResize="0"/>
          <p:nvPr/>
        </p:nvPicPr>
        <p:blipFill>
          <a:blip r:embed="rId3">
            <a:alphaModFix/>
          </a:blip>
          <a:stretch>
            <a:fillRect/>
          </a:stretch>
        </p:blipFill>
        <p:spPr>
          <a:xfrm>
            <a:off x="152400" y="3273750"/>
            <a:ext cx="6055287" cy="1416400"/>
          </a:xfrm>
          <a:prstGeom prst="rect">
            <a:avLst/>
          </a:prstGeom>
          <a:noFill/>
          <a:ln>
            <a:noFill/>
          </a:ln>
        </p:spPr>
      </p:pic>
      <p:sp>
        <p:nvSpPr>
          <p:cNvPr id="207" name="Google Shape;207;p27"/>
          <p:cNvSpPr txBox="1"/>
          <p:nvPr/>
        </p:nvSpPr>
        <p:spPr>
          <a:xfrm>
            <a:off x="3445575" y="1058338"/>
            <a:ext cx="5450100" cy="1139700"/>
          </a:xfrm>
          <a:prstGeom prst="rect">
            <a:avLst/>
          </a:prstGeom>
          <a:solidFill>
            <a:srgbClr val="FFE599"/>
          </a:solidFill>
          <a:ln cap="flat" cmpd="sng" w="38100">
            <a:solidFill>
              <a:srgbClr val="7F6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 sz="1500">
                <a:solidFill>
                  <a:srgbClr val="7F6000"/>
                </a:solidFill>
                <a:latin typeface="Lato"/>
                <a:ea typeface="Lato"/>
                <a:cs typeface="Lato"/>
                <a:sym typeface="Lato"/>
              </a:rPr>
              <a:t>Elegant pattern:</a:t>
            </a:r>
            <a:r>
              <a:rPr lang="en" sz="1500">
                <a:solidFill>
                  <a:srgbClr val="7F6000"/>
                </a:solidFill>
                <a:latin typeface="Lato"/>
                <a:ea typeface="Lato"/>
                <a:cs typeface="Lato"/>
                <a:sym typeface="Lato"/>
              </a:rPr>
              <a:t> The effective </a:t>
            </a:r>
            <a:r>
              <a:rPr b="1" lang="en" sz="1500">
                <a:solidFill>
                  <a:srgbClr val="7F6000"/>
                </a:solidFill>
                <a:latin typeface="Lato"/>
                <a:ea typeface="Lato"/>
                <a:cs typeface="Lato"/>
                <a:sym typeface="Lato"/>
              </a:rPr>
              <a:t>𝐾</a:t>
            </a:r>
            <a:r>
              <a:rPr b="1" lang="en" sz="1500">
                <a:solidFill>
                  <a:srgbClr val="7F6000"/>
                </a:solidFill>
                <a:latin typeface="Lato"/>
                <a:ea typeface="Lato"/>
                <a:cs typeface="Lato"/>
                <a:sym typeface="Lato"/>
              </a:rPr>
              <a:t>/</a:t>
            </a:r>
            <a:r>
              <a:rPr b="1" lang="en" sz="1500">
                <a:solidFill>
                  <a:srgbClr val="7F6000"/>
                </a:solidFill>
                <a:latin typeface="Lato"/>
                <a:ea typeface="Lato"/>
                <a:cs typeface="Lato"/>
                <a:sym typeface="Lato"/>
              </a:rPr>
              <a:t>𝑉</a:t>
            </a:r>
            <a:r>
              <a:rPr lang="en" sz="1500">
                <a:solidFill>
                  <a:srgbClr val="7F6000"/>
                </a:solidFill>
                <a:latin typeface="Lato"/>
                <a:ea typeface="Lato"/>
                <a:cs typeface="Lato"/>
                <a:sym typeface="Lato"/>
              </a:rPr>
              <a:t> length is approximately constant at 256 across all stages. As spatial resolution shrinks 4×, </a:t>
            </a:r>
            <a:r>
              <a:rPr b="1" lang="en" sz="1500">
                <a:solidFill>
                  <a:srgbClr val="7F6000"/>
                </a:solidFill>
                <a:latin typeface="Lato"/>
                <a:ea typeface="Lato"/>
                <a:cs typeface="Lato"/>
                <a:sym typeface="Lato"/>
              </a:rPr>
              <a:t>𝑅 (reduction ratio)</a:t>
            </a:r>
            <a:r>
              <a:rPr lang="en" sz="1500">
                <a:solidFill>
                  <a:srgbClr val="7F6000"/>
                </a:solidFill>
                <a:latin typeface="Lato"/>
                <a:ea typeface="Lato"/>
                <a:cs typeface="Lato"/>
                <a:sym typeface="Lato"/>
              </a:rPr>
              <a:t> also shrinks 4×. Attention cost is roughly constant across all stages. </a:t>
            </a:r>
            <a:endParaRPr sz="1500">
              <a:solidFill>
                <a:srgbClr val="7F6000"/>
              </a:solidFill>
              <a:latin typeface="Lato"/>
              <a:ea typeface="Lato"/>
              <a:cs typeface="Lato"/>
              <a:sym typeface="Lato"/>
            </a:endParaRPr>
          </a:p>
        </p:txBody>
      </p:sp>
      <p:sp>
        <p:nvSpPr>
          <p:cNvPr id="208" name="Google Shape;208;p27"/>
          <p:cNvSpPr txBox="1"/>
          <p:nvPr/>
        </p:nvSpPr>
        <p:spPr>
          <a:xfrm>
            <a:off x="5565975" y="2334600"/>
            <a:ext cx="3329700" cy="1905000"/>
          </a:xfrm>
          <a:prstGeom prst="rect">
            <a:avLst/>
          </a:prstGeom>
          <a:solidFill>
            <a:srgbClr val="9FC5E8"/>
          </a:solidFill>
          <a:ln cap="flat" cmpd="sng" w="38100">
            <a:solidFill>
              <a:srgbClr val="073763"/>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 sz="1500">
                <a:solidFill>
                  <a:srgbClr val="073763"/>
                </a:solidFill>
                <a:latin typeface="Lato"/>
                <a:ea typeface="Lato"/>
                <a:cs typeface="Lato"/>
                <a:sym typeface="Lato"/>
              </a:rPr>
              <a:t>Why reduce </a:t>
            </a:r>
            <a:r>
              <a:rPr lang="en" sz="1500">
                <a:solidFill>
                  <a:srgbClr val="073763"/>
                </a:solidFill>
                <a:latin typeface="Lato"/>
                <a:ea typeface="Lato"/>
                <a:cs typeface="Lato"/>
                <a:sym typeface="Lato"/>
              </a:rPr>
              <a:t>𝐾</a:t>
            </a:r>
            <a:r>
              <a:rPr b="1" lang="en" sz="1500">
                <a:solidFill>
                  <a:srgbClr val="073763"/>
                </a:solidFill>
                <a:latin typeface="Lato"/>
                <a:ea typeface="Lato"/>
                <a:cs typeface="Lato"/>
                <a:sym typeface="Lato"/>
              </a:rPr>
              <a:t>, </a:t>
            </a:r>
            <a:r>
              <a:rPr lang="en" sz="1500">
                <a:solidFill>
                  <a:srgbClr val="073763"/>
                </a:solidFill>
                <a:latin typeface="Lato"/>
                <a:ea typeface="Lato"/>
                <a:cs typeface="Lato"/>
                <a:sym typeface="Lato"/>
              </a:rPr>
              <a:t>𝑉</a:t>
            </a:r>
            <a:r>
              <a:rPr b="1" lang="en" sz="1500">
                <a:solidFill>
                  <a:srgbClr val="073763"/>
                </a:solidFill>
                <a:latin typeface="Lato"/>
                <a:ea typeface="Lato"/>
                <a:cs typeface="Lato"/>
                <a:sym typeface="Lato"/>
              </a:rPr>
              <a:t> but not </a:t>
            </a:r>
            <a:r>
              <a:rPr b="1" lang="en" sz="1500">
                <a:solidFill>
                  <a:srgbClr val="073763"/>
                </a:solidFill>
                <a:latin typeface="Lato"/>
                <a:ea typeface="Lato"/>
                <a:cs typeface="Lato"/>
                <a:sym typeface="Lato"/>
              </a:rPr>
              <a:t> 𝑄</a:t>
            </a:r>
            <a:r>
              <a:rPr b="1" lang="en" sz="1500">
                <a:solidFill>
                  <a:srgbClr val="073763"/>
                </a:solidFill>
                <a:latin typeface="Lato"/>
                <a:ea typeface="Lato"/>
                <a:cs typeface="Lato"/>
                <a:sym typeface="Lato"/>
              </a:rPr>
              <a:t>?  </a:t>
            </a:r>
            <a:endParaRPr b="1" sz="1500">
              <a:solidFill>
                <a:srgbClr val="073763"/>
              </a:solidFill>
              <a:latin typeface="Lato"/>
              <a:ea typeface="Lato"/>
              <a:cs typeface="Lato"/>
              <a:sym typeface="Lato"/>
            </a:endParaRPr>
          </a:p>
          <a:p>
            <a:pPr indent="0" lvl="0" marL="0" rtl="0" algn="just">
              <a:spcBef>
                <a:spcPts val="0"/>
              </a:spcBef>
              <a:spcAft>
                <a:spcPts val="0"/>
              </a:spcAft>
              <a:buNone/>
            </a:pPr>
            <a:r>
              <a:rPr b="1" lang="en" sz="1500">
                <a:solidFill>
                  <a:srgbClr val="073763"/>
                </a:solidFill>
                <a:latin typeface="Lato"/>
                <a:ea typeface="Lato"/>
                <a:cs typeface="Lato"/>
                <a:sym typeface="Lato"/>
              </a:rPr>
              <a:t>𝑄</a:t>
            </a:r>
            <a:r>
              <a:rPr lang="en" sz="1500">
                <a:solidFill>
                  <a:srgbClr val="073763"/>
                </a:solidFill>
                <a:latin typeface="Lato"/>
                <a:ea typeface="Lato"/>
                <a:cs typeface="Lato"/>
                <a:sym typeface="Lato"/>
              </a:rPr>
              <a:t> determines what each token asks for (</a:t>
            </a:r>
            <a:r>
              <a:rPr b="1" lang="en" sz="1500">
                <a:solidFill>
                  <a:srgbClr val="073763"/>
                </a:solidFill>
                <a:latin typeface="Lato"/>
                <a:ea typeface="Lato"/>
                <a:cs typeface="Lato"/>
                <a:sym typeface="Lato"/>
              </a:rPr>
              <a:t>𝑁</a:t>
            </a:r>
            <a:r>
              <a:rPr lang="en" sz="1500">
                <a:solidFill>
                  <a:srgbClr val="073763"/>
                </a:solidFill>
                <a:latin typeface="Lato"/>
                <a:ea typeface="Lato"/>
                <a:cs typeface="Lato"/>
                <a:sym typeface="Lato"/>
              </a:rPr>
              <a:t> tokens must ask). </a:t>
            </a:r>
            <a:r>
              <a:rPr b="1" lang="en" sz="1500">
                <a:solidFill>
                  <a:srgbClr val="073763"/>
                </a:solidFill>
                <a:latin typeface="Lato"/>
                <a:ea typeface="Lato"/>
                <a:cs typeface="Lato"/>
                <a:sym typeface="Lato"/>
              </a:rPr>
              <a:t>𝐾</a:t>
            </a:r>
            <a:r>
              <a:rPr lang="en" sz="1500">
                <a:solidFill>
                  <a:srgbClr val="073763"/>
                </a:solidFill>
                <a:latin typeface="Lato"/>
                <a:ea typeface="Lato"/>
                <a:cs typeface="Lato"/>
                <a:sym typeface="Lato"/>
              </a:rPr>
              <a:t> and </a:t>
            </a:r>
            <a:r>
              <a:rPr b="1" lang="en" sz="1500">
                <a:solidFill>
                  <a:srgbClr val="073763"/>
                </a:solidFill>
                <a:latin typeface="Lato"/>
                <a:ea typeface="Lato"/>
                <a:cs typeface="Lato"/>
                <a:sym typeface="Lato"/>
              </a:rPr>
              <a:t>𝑉</a:t>
            </a:r>
            <a:r>
              <a:rPr b="1" lang="en" sz="1500">
                <a:solidFill>
                  <a:srgbClr val="073763"/>
                </a:solidFill>
                <a:latin typeface="Lato"/>
                <a:ea typeface="Lato"/>
                <a:cs typeface="Lato"/>
                <a:sym typeface="Lato"/>
              </a:rPr>
              <a:t> </a:t>
            </a:r>
            <a:r>
              <a:rPr lang="en" sz="1500">
                <a:solidFill>
                  <a:srgbClr val="073763"/>
                </a:solidFill>
                <a:latin typeface="Lato"/>
                <a:ea typeface="Lato"/>
                <a:cs typeface="Lato"/>
                <a:sym typeface="Lato"/>
              </a:rPr>
              <a:t>answer the questions compressing similar adjacent tokens into one group loses little in early stages where tokens are highly correlated.</a:t>
            </a:r>
            <a:endParaRPr sz="1500">
              <a:solidFill>
                <a:srgbClr val="073763"/>
              </a:solidFill>
              <a:latin typeface="Lato"/>
              <a:ea typeface="Lato"/>
              <a:cs typeface="Lato"/>
              <a:sym typeface="Lato"/>
            </a:endParaRPr>
          </a:p>
        </p:txBody>
      </p:sp>
      <p:pic>
        <p:nvPicPr>
          <p:cNvPr id="209" name="Google Shape;209;p27"/>
          <p:cNvPicPr preferRelativeResize="0"/>
          <p:nvPr/>
        </p:nvPicPr>
        <p:blipFill>
          <a:blip r:embed="rId4">
            <a:alphaModFix/>
          </a:blip>
          <a:stretch>
            <a:fillRect/>
          </a:stretch>
        </p:blipFill>
        <p:spPr>
          <a:xfrm>
            <a:off x="152400" y="1210750"/>
            <a:ext cx="3028125" cy="17159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8"/>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Problem 4 — Positional Encoding is Resolution-Locked</a:t>
            </a:r>
            <a:endParaRPr sz="2100">
              <a:solidFill>
                <a:srgbClr val="073763"/>
              </a:solidFill>
            </a:endParaRPr>
          </a:p>
        </p:txBody>
      </p:sp>
      <p:sp>
        <p:nvSpPr>
          <p:cNvPr id="215" name="Google Shape;215;p28"/>
          <p:cNvSpPr txBox="1"/>
          <p:nvPr>
            <p:ph idx="1" type="body"/>
          </p:nvPr>
        </p:nvSpPr>
        <p:spPr>
          <a:xfrm>
            <a:off x="272875" y="2393675"/>
            <a:ext cx="4241100" cy="210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Train at 512 × 512 with 16 × 16 patches ⇒ 32 × 32 = </a:t>
            </a:r>
            <a:r>
              <a:rPr b="1" lang="en"/>
              <a:t>1024 PE</a:t>
            </a:r>
            <a:r>
              <a:rPr lang="en"/>
              <a:t> vectors learned.</a:t>
            </a:r>
            <a:endParaRPr/>
          </a:p>
          <a:p>
            <a:pPr indent="-342900" lvl="0" marL="457200" rtl="0" algn="l">
              <a:spcBef>
                <a:spcPts val="0"/>
              </a:spcBef>
              <a:spcAft>
                <a:spcPts val="0"/>
              </a:spcAft>
              <a:buSzPts val="1800"/>
              <a:buAutoNum type="arabicPeriod"/>
            </a:pPr>
            <a:r>
              <a:rPr lang="en"/>
              <a:t>Eval at 1024 × 2048 ⇒ need 64 × 128 = </a:t>
            </a:r>
            <a:r>
              <a:rPr b="1" lang="en"/>
              <a:t>8192 PE </a:t>
            </a:r>
            <a:r>
              <a:rPr lang="en"/>
              <a:t>vectors. 7168 must be interpolated.</a:t>
            </a:r>
            <a:endParaRPr/>
          </a:p>
        </p:txBody>
      </p:sp>
      <p:sp>
        <p:nvSpPr>
          <p:cNvPr id="216" name="Google Shape;216;p28"/>
          <p:cNvSpPr txBox="1"/>
          <p:nvPr/>
        </p:nvSpPr>
        <p:spPr>
          <a:xfrm>
            <a:off x="272875" y="1174250"/>
            <a:ext cx="8376900" cy="1033800"/>
          </a:xfrm>
          <a:prstGeom prst="rect">
            <a:avLst/>
          </a:prstGeom>
          <a:solidFill>
            <a:srgbClr val="EA9999"/>
          </a:solidFill>
          <a:ln cap="flat" cmpd="sng" w="38100">
            <a:solidFill>
              <a:srgbClr val="66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 sz="1800">
                <a:solidFill>
                  <a:srgbClr val="660000"/>
                </a:solidFill>
                <a:latin typeface="Lato"/>
                <a:ea typeface="Lato"/>
                <a:cs typeface="Lato"/>
                <a:sym typeface="Lato"/>
              </a:rPr>
              <a:t>PE is a fixed lookup table of learned vectors — one per patch position. The table size is fixed at training time. At a different evaluation resolution, missing vectors must be interpolated — values the model has never seen</a:t>
            </a:r>
            <a:endParaRPr sz="1800">
              <a:solidFill>
                <a:srgbClr val="660000"/>
              </a:solidFill>
              <a:latin typeface="Lato"/>
              <a:ea typeface="Lato"/>
              <a:cs typeface="Lato"/>
              <a:sym typeface="Lato"/>
            </a:endParaRPr>
          </a:p>
          <a:p>
            <a:pPr indent="0" lvl="0" marL="0" rtl="0" algn="just">
              <a:spcBef>
                <a:spcPts val="0"/>
              </a:spcBef>
              <a:spcAft>
                <a:spcPts val="0"/>
              </a:spcAft>
              <a:buNone/>
            </a:pPr>
            <a:r>
              <a:t/>
            </a:r>
            <a:endParaRPr sz="1800">
              <a:solidFill>
                <a:srgbClr val="660000"/>
              </a:solidFill>
              <a:latin typeface="Lato"/>
              <a:ea typeface="Lato"/>
              <a:cs typeface="Lato"/>
              <a:sym typeface="Lato"/>
            </a:endParaRPr>
          </a:p>
        </p:txBody>
      </p:sp>
      <p:sp>
        <p:nvSpPr>
          <p:cNvPr id="217" name="Google Shape;217;p28"/>
          <p:cNvSpPr txBox="1"/>
          <p:nvPr/>
        </p:nvSpPr>
        <p:spPr>
          <a:xfrm>
            <a:off x="4629975" y="2459925"/>
            <a:ext cx="4091700" cy="7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434343"/>
                </a:solidFill>
                <a:latin typeface="Lato"/>
                <a:ea typeface="Lato"/>
                <a:cs typeface="Lato"/>
                <a:sym typeface="Lato"/>
              </a:rPr>
              <a:t>3.3% drop simply from changing the evaluation resolution is an unacceptable fragility for a production segmentation model</a:t>
            </a:r>
            <a:endParaRPr sz="1700">
              <a:solidFill>
                <a:srgbClr val="434343"/>
              </a:solidFill>
              <a:latin typeface="Lato"/>
              <a:ea typeface="Lato"/>
              <a:cs typeface="Lato"/>
              <a:sym typeface="Lato"/>
            </a:endParaRPr>
          </a:p>
          <a:p>
            <a:pPr indent="0" lvl="0" marL="0" rtl="0" algn="l">
              <a:spcBef>
                <a:spcPts val="0"/>
              </a:spcBef>
              <a:spcAft>
                <a:spcPts val="0"/>
              </a:spcAft>
              <a:buNone/>
            </a:pPr>
            <a:r>
              <a:t/>
            </a:r>
            <a:endParaRPr sz="1700">
              <a:solidFill>
                <a:srgbClr val="434343"/>
              </a:solidFill>
              <a:latin typeface="Lato"/>
              <a:ea typeface="Lato"/>
              <a:cs typeface="Lato"/>
              <a:sym typeface="Lato"/>
            </a:endParaRPr>
          </a:p>
          <a:p>
            <a:pPr indent="0" lvl="0" marL="0" rtl="0" algn="l">
              <a:spcBef>
                <a:spcPts val="0"/>
              </a:spcBef>
              <a:spcAft>
                <a:spcPts val="0"/>
              </a:spcAft>
              <a:buNone/>
            </a:pPr>
            <a:r>
              <a:t/>
            </a:r>
            <a:endParaRPr sz="1700">
              <a:solidFill>
                <a:srgbClr val="434343"/>
              </a:solidFill>
              <a:latin typeface="Lato"/>
              <a:ea typeface="Lato"/>
              <a:cs typeface="Lato"/>
              <a:sym typeface="Lato"/>
            </a:endParaRPr>
          </a:p>
        </p:txBody>
      </p:sp>
      <p:pic>
        <p:nvPicPr>
          <p:cNvPr id="218" name="Google Shape;218;p28"/>
          <p:cNvPicPr preferRelativeResize="0"/>
          <p:nvPr/>
        </p:nvPicPr>
        <p:blipFill>
          <a:blip r:embed="rId3">
            <a:alphaModFix/>
          </a:blip>
          <a:stretch>
            <a:fillRect/>
          </a:stretch>
        </p:blipFill>
        <p:spPr>
          <a:xfrm>
            <a:off x="4571363" y="3677375"/>
            <a:ext cx="4010025" cy="8763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Change 4: Mix-FFN — Replacing Positional Encoding</a:t>
            </a:r>
            <a:endParaRPr sz="2100">
              <a:solidFill>
                <a:srgbClr val="073763"/>
              </a:solidFill>
            </a:endParaRPr>
          </a:p>
        </p:txBody>
      </p:sp>
      <p:pic>
        <p:nvPicPr>
          <p:cNvPr id="224" name="Google Shape;224;p29"/>
          <p:cNvPicPr preferRelativeResize="0"/>
          <p:nvPr/>
        </p:nvPicPr>
        <p:blipFill>
          <a:blip r:embed="rId3">
            <a:alphaModFix/>
          </a:blip>
          <a:stretch>
            <a:fillRect/>
          </a:stretch>
        </p:blipFill>
        <p:spPr>
          <a:xfrm>
            <a:off x="643425" y="1392975"/>
            <a:ext cx="7707799" cy="2645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0"/>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Why Does </a:t>
            </a:r>
            <a:r>
              <a:rPr lang="en" sz="2100">
                <a:solidFill>
                  <a:srgbClr val="073763"/>
                </a:solidFill>
                <a:latin typeface="Courier New"/>
                <a:ea typeface="Courier New"/>
                <a:cs typeface="Courier New"/>
                <a:sym typeface="Courier New"/>
              </a:rPr>
              <a:t>Conv</a:t>
            </a:r>
            <a:r>
              <a:rPr baseline="-25000" lang="en" sz="2100">
                <a:solidFill>
                  <a:srgbClr val="073763"/>
                </a:solidFill>
                <a:latin typeface="Courier New"/>
                <a:ea typeface="Courier New"/>
                <a:cs typeface="Courier New"/>
                <a:sym typeface="Courier New"/>
              </a:rPr>
              <a:t>3×3</a:t>
            </a:r>
            <a:r>
              <a:rPr lang="en" sz="2100">
                <a:solidFill>
                  <a:srgbClr val="073763"/>
                </a:solidFill>
              </a:rPr>
              <a:t> Encode Positional Information?</a:t>
            </a:r>
            <a:endParaRPr sz="2100">
              <a:solidFill>
                <a:srgbClr val="073763"/>
              </a:solidFill>
            </a:endParaRPr>
          </a:p>
        </p:txBody>
      </p:sp>
      <p:sp>
        <p:nvSpPr>
          <p:cNvPr id="230" name="Google Shape;230;p30"/>
          <p:cNvSpPr txBox="1"/>
          <p:nvPr>
            <p:ph idx="1" type="body"/>
          </p:nvPr>
        </p:nvSpPr>
        <p:spPr>
          <a:xfrm>
            <a:off x="272875" y="1209275"/>
            <a:ext cx="4655400" cy="2107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Z</a:t>
            </a:r>
            <a:r>
              <a:rPr b="1" lang="en"/>
              <a:t>ero-padding mechanism :</a:t>
            </a:r>
            <a:r>
              <a:rPr lang="en"/>
              <a:t> With padding=1, a frame of zeros is added around the entire feature map border. The 3 × 3 kernel slides over every position in the padded grid.</a:t>
            </a:r>
            <a:endParaRPr/>
          </a:p>
        </p:txBody>
      </p:sp>
      <p:pic>
        <p:nvPicPr>
          <p:cNvPr id="231" name="Google Shape;231;p30"/>
          <p:cNvPicPr preferRelativeResize="0"/>
          <p:nvPr/>
        </p:nvPicPr>
        <p:blipFill>
          <a:blip r:embed="rId3">
            <a:alphaModFix/>
          </a:blip>
          <a:stretch>
            <a:fillRect/>
          </a:stretch>
        </p:blipFill>
        <p:spPr>
          <a:xfrm>
            <a:off x="413675" y="2792700"/>
            <a:ext cx="4655401" cy="1376810"/>
          </a:xfrm>
          <a:prstGeom prst="rect">
            <a:avLst/>
          </a:prstGeom>
          <a:noFill/>
          <a:ln>
            <a:noFill/>
          </a:ln>
        </p:spPr>
      </p:pic>
      <p:pic>
        <p:nvPicPr>
          <p:cNvPr id="232" name="Google Shape;232;p30"/>
          <p:cNvPicPr preferRelativeResize="0"/>
          <p:nvPr/>
        </p:nvPicPr>
        <p:blipFill>
          <a:blip r:embed="rId4">
            <a:alphaModFix/>
          </a:blip>
          <a:stretch>
            <a:fillRect/>
          </a:stretch>
        </p:blipFill>
        <p:spPr>
          <a:xfrm>
            <a:off x="5668575" y="1152775"/>
            <a:ext cx="2821100" cy="3557050"/>
          </a:xfrm>
          <a:prstGeom prst="rect">
            <a:avLst/>
          </a:prstGeom>
          <a:noFill/>
          <a:ln>
            <a:noFill/>
          </a:ln>
        </p:spPr>
      </p:pic>
      <p:sp>
        <p:nvSpPr>
          <p:cNvPr id="233" name="Google Shape;233;p30"/>
          <p:cNvSpPr txBox="1"/>
          <p:nvPr/>
        </p:nvSpPr>
        <p:spPr>
          <a:xfrm>
            <a:off x="6294800" y="1888425"/>
            <a:ext cx="2982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C0000"/>
                </a:solidFill>
                <a:latin typeface="Courier New"/>
                <a:ea typeface="Courier New"/>
                <a:cs typeface="Courier New"/>
                <a:sym typeface="Courier New"/>
              </a:rPr>
              <a:t>A</a:t>
            </a:r>
            <a:endParaRPr sz="1600">
              <a:solidFill>
                <a:srgbClr val="CC0000"/>
              </a:solidFill>
              <a:latin typeface="Courier New"/>
              <a:ea typeface="Courier New"/>
              <a:cs typeface="Courier New"/>
              <a:sym typeface="Courier New"/>
            </a:endParaRPr>
          </a:p>
        </p:txBody>
      </p:sp>
      <p:sp>
        <p:nvSpPr>
          <p:cNvPr id="234" name="Google Shape;234;p30"/>
          <p:cNvSpPr txBox="1"/>
          <p:nvPr/>
        </p:nvSpPr>
        <p:spPr>
          <a:xfrm>
            <a:off x="6294800" y="2257050"/>
            <a:ext cx="2982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BF9000"/>
                </a:solidFill>
                <a:latin typeface="Courier New"/>
                <a:ea typeface="Courier New"/>
                <a:cs typeface="Courier New"/>
                <a:sym typeface="Courier New"/>
              </a:rPr>
              <a:t>E</a:t>
            </a:r>
            <a:endParaRPr sz="1600">
              <a:solidFill>
                <a:srgbClr val="BF9000"/>
              </a:solidFill>
              <a:latin typeface="Courier New"/>
              <a:ea typeface="Courier New"/>
              <a:cs typeface="Courier New"/>
              <a:sym typeface="Courier New"/>
            </a:endParaRPr>
          </a:p>
        </p:txBody>
      </p:sp>
      <p:sp>
        <p:nvSpPr>
          <p:cNvPr id="235" name="Google Shape;235;p30"/>
          <p:cNvSpPr txBox="1"/>
          <p:nvPr/>
        </p:nvSpPr>
        <p:spPr>
          <a:xfrm>
            <a:off x="7010400" y="1888425"/>
            <a:ext cx="2982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BF9000"/>
                </a:solidFill>
                <a:latin typeface="Courier New"/>
                <a:ea typeface="Courier New"/>
                <a:cs typeface="Courier New"/>
                <a:sym typeface="Courier New"/>
              </a:rPr>
              <a:t>C</a:t>
            </a:r>
            <a:endParaRPr sz="1600">
              <a:solidFill>
                <a:srgbClr val="BF9000"/>
              </a:solidFill>
              <a:latin typeface="Courier New"/>
              <a:ea typeface="Courier New"/>
              <a:cs typeface="Courier New"/>
              <a:sym typeface="Courier New"/>
            </a:endParaRPr>
          </a:p>
        </p:txBody>
      </p:sp>
      <p:sp>
        <p:nvSpPr>
          <p:cNvPr id="236" name="Google Shape;236;p30"/>
          <p:cNvSpPr txBox="1"/>
          <p:nvPr/>
        </p:nvSpPr>
        <p:spPr>
          <a:xfrm>
            <a:off x="6652600" y="1888425"/>
            <a:ext cx="2982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BF9000"/>
                </a:solidFill>
                <a:latin typeface="Courier New"/>
                <a:ea typeface="Courier New"/>
                <a:cs typeface="Courier New"/>
                <a:sym typeface="Courier New"/>
              </a:rPr>
              <a:t>B</a:t>
            </a:r>
            <a:endParaRPr sz="1600">
              <a:solidFill>
                <a:srgbClr val="BF9000"/>
              </a:solidFill>
              <a:latin typeface="Courier New"/>
              <a:ea typeface="Courier New"/>
              <a:cs typeface="Courier New"/>
              <a:sym typeface="Courier New"/>
            </a:endParaRPr>
          </a:p>
        </p:txBody>
      </p:sp>
      <p:sp>
        <p:nvSpPr>
          <p:cNvPr id="237" name="Google Shape;237;p30"/>
          <p:cNvSpPr txBox="1"/>
          <p:nvPr/>
        </p:nvSpPr>
        <p:spPr>
          <a:xfrm>
            <a:off x="6294800" y="2640525"/>
            <a:ext cx="2982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BF9000"/>
                </a:solidFill>
                <a:latin typeface="Courier New"/>
                <a:ea typeface="Courier New"/>
                <a:cs typeface="Courier New"/>
                <a:sym typeface="Courier New"/>
              </a:rPr>
              <a:t>I</a:t>
            </a:r>
            <a:endParaRPr sz="1600">
              <a:solidFill>
                <a:srgbClr val="BF9000"/>
              </a:solidFill>
              <a:latin typeface="Courier New"/>
              <a:ea typeface="Courier New"/>
              <a:cs typeface="Courier New"/>
              <a:sym typeface="Courier New"/>
            </a:endParaRPr>
          </a:p>
        </p:txBody>
      </p:sp>
      <p:sp>
        <p:nvSpPr>
          <p:cNvPr id="238" name="Google Shape;238;p30"/>
          <p:cNvSpPr txBox="1"/>
          <p:nvPr/>
        </p:nvSpPr>
        <p:spPr>
          <a:xfrm>
            <a:off x="7368200" y="1888425"/>
            <a:ext cx="2982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C0000"/>
                </a:solidFill>
                <a:latin typeface="Courier New"/>
                <a:ea typeface="Courier New"/>
                <a:cs typeface="Courier New"/>
                <a:sym typeface="Courier New"/>
              </a:rPr>
              <a:t>D</a:t>
            </a:r>
            <a:endParaRPr sz="1600">
              <a:solidFill>
                <a:srgbClr val="CC0000"/>
              </a:solidFill>
              <a:latin typeface="Courier New"/>
              <a:ea typeface="Courier New"/>
              <a:cs typeface="Courier New"/>
              <a:sym typeface="Courier New"/>
            </a:endParaRPr>
          </a:p>
        </p:txBody>
      </p:sp>
      <p:sp>
        <p:nvSpPr>
          <p:cNvPr id="239" name="Google Shape;239;p30"/>
          <p:cNvSpPr txBox="1"/>
          <p:nvPr/>
        </p:nvSpPr>
        <p:spPr>
          <a:xfrm>
            <a:off x="6652600" y="2257050"/>
            <a:ext cx="2982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6AA84F"/>
                </a:solidFill>
                <a:latin typeface="Courier New"/>
                <a:ea typeface="Courier New"/>
                <a:cs typeface="Courier New"/>
                <a:sym typeface="Courier New"/>
              </a:rPr>
              <a:t>F</a:t>
            </a:r>
            <a:endParaRPr sz="1600">
              <a:solidFill>
                <a:srgbClr val="6AA84F"/>
              </a:solidFill>
              <a:latin typeface="Courier New"/>
              <a:ea typeface="Courier New"/>
              <a:cs typeface="Courier New"/>
              <a:sym typeface="Courier New"/>
            </a:endParaRPr>
          </a:p>
        </p:txBody>
      </p:sp>
      <p:sp>
        <p:nvSpPr>
          <p:cNvPr id="240" name="Google Shape;240;p30"/>
          <p:cNvSpPr txBox="1"/>
          <p:nvPr/>
        </p:nvSpPr>
        <p:spPr>
          <a:xfrm>
            <a:off x="6294800" y="3001775"/>
            <a:ext cx="2982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C0000"/>
                </a:solidFill>
                <a:latin typeface="Courier New"/>
                <a:ea typeface="Courier New"/>
                <a:cs typeface="Courier New"/>
                <a:sym typeface="Courier New"/>
              </a:rPr>
              <a:t>N</a:t>
            </a:r>
            <a:endParaRPr sz="1600">
              <a:solidFill>
                <a:srgbClr val="CC0000"/>
              </a:solidFill>
              <a:latin typeface="Courier New"/>
              <a:ea typeface="Courier New"/>
              <a:cs typeface="Courier New"/>
              <a:sym typeface="Courier New"/>
            </a:endParaRPr>
          </a:p>
        </p:txBody>
      </p:sp>
      <p:sp>
        <p:nvSpPr>
          <p:cNvPr id="241" name="Google Shape;241;p30"/>
          <p:cNvSpPr txBox="1"/>
          <p:nvPr/>
        </p:nvSpPr>
        <p:spPr>
          <a:xfrm>
            <a:off x="7368200" y="2257050"/>
            <a:ext cx="2982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BF9000"/>
                </a:solidFill>
                <a:latin typeface="Courier New"/>
                <a:ea typeface="Courier New"/>
                <a:cs typeface="Courier New"/>
                <a:sym typeface="Courier New"/>
              </a:rPr>
              <a:t>H</a:t>
            </a:r>
            <a:endParaRPr sz="1600">
              <a:solidFill>
                <a:srgbClr val="BF9000"/>
              </a:solidFill>
              <a:latin typeface="Courier New"/>
              <a:ea typeface="Courier New"/>
              <a:cs typeface="Courier New"/>
              <a:sym typeface="Courier New"/>
            </a:endParaRPr>
          </a:p>
        </p:txBody>
      </p:sp>
      <p:sp>
        <p:nvSpPr>
          <p:cNvPr id="242" name="Google Shape;242;p30"/>
          <p:cNvSpPr txBox="1"/>
          <p:nvPr/>
        </p:nvSpPr>
        <p:spPr>
          <a:xfrm>
            <a:off x="7010400" y="2257050"/>
            <a:ext cx="2982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6AA84F"/>
                </a:solidFill>
                <a:latin typeface="Courier New"/>
                <a:ea typeface="Courier New"/>
                <a:cs typeface="Courier New"/>
                <a:sym typeface="Courier New"/>
              </a:rPr>
              <a:t>G</a:t>
            </a:r>
            <a:endParaRPr sz="1600">
              <a:solidFill>
                <a:srgbClr val="6AA84F"/>
              </a:solidFill>
              <a:latin typeface="Courier New"/>
              <a:ea typeface="Courier New"/>
              <a:cs typeface="Courier New"/>
              <a:sym typeface="Courier New"/>
            </a:endParaRPr>
          </a:p>
        </p:txBody>
      </p:sp>
      <p:sp>
        <p:nvSpPr>
          <p:cNvPr id="243" name="Google Shape;243;p30"/>
          <p:cNvSpPr txBox="1"/>
          <p:nvPr/>
        </p:nvSpPr>
        <p:spPr>
          <a:xfrm>
            <a:off x="7010400" y="2625675"/>
            <a:ext cx="2982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6AA84F"/>
                </a:solidFill>
                <a:latin typeface="Courier New"/>
                <a:ea typeface="Courier New"/>
                <a:cs typeface="Courier New"/>
                <a:sym typeface="Courier New"/>
              </a:rPr>
              <a:t>L</a:t>
            </a:r>
            <a:endParaRPr sz="1600">
              <a:solidFill>
                <a:srgbClr val="6AA84F"/>
              </a:solidFill>
              <a:latin typeface="Courier New"/>
              <a:ea typeface="Courier New"/>
              <a:cs typeface="Courier New"/>
              <a:sym typeface="Courier New"/>
            </a:endParaRPr>
          </a:p>
        </p:txBody>
      </p:sp>
      <p:sp>
        <p:nvSpPr>
          <p:cNvPr id="244" name="Google Shape;244;p30"/>
          <p:cNvSpPr txBox="1"/>
          <p:nvPr/>
        </p:nvSpPr>
        <p:spPr>
          <a:xfrm>
            <a:off x="6652600" y="2625675"/>
            <a:ext cx="2982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6AA84F"/>
                </a:solidFill>
                <a:latin typeface="Courier New"/>
                <a:ea typeface="Courier New"/>
                <a:cs typeface="Courier New"/>
                <a:sym typeface="Courier New"/>
              </a:rPr>
              <a:t>K</a:t>
            </a:r>
            <a:endParaRPr sz="1600">
              <a:solidFill>
                <a:srgbClr val="6AA84F"/>
              </a:solidFill>
              <a:latin typeface="Courier New"/>
              <a:ea typeface="Courier New"/>
              <a:cs typeface="Courier New"/>
              <a:sym typeface="Courier New"/>
            </a:endParaRPr>
          </a:p>
        </p:txBody>
      </p:sp>
      <p:sp>
        <p:nvSpPr>
          <p:cNvPr id="245" name="Google Shape;245;p30"/>
          <p:cNvSpPr txBox="1"/>
          <p:nvPr/>
        </p:nvSpPr>
        <p:spPr>
          <a:xfrm>
            <a:off x="6652600" y="2994300"/>
            <a:ext cx="2982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BF9000"/>
                </a:solidFill>
                <a:latin typeface="Courier New"/>
                <a:ea typeface="Courier New"/>
                <a:cs typeface="Courier New"/>
                <a:sym typeface="Courier New"/>
              </a:rPr>
              <a:t>O</a:t>
            </a:r>
            <a:endParaRPr sz="1600">
              <a:solidFill>
                <a:srgbClr val="BF9000"/>
              </a:solidFill>
              <a:latin typeface="Courier New"/>
              <a:ea typeface="Courier New"/>
              <a:cs typeface="Courier New"/>
              <a:sym typeface="Courier New"/>
            </a:endParaRPr>
          </a:p>
        </p:txBody>
      </p:sp>
      <p:sp>
        <p:nvSpPr>
          <p:cNvPr id="246" name="Google Shape;246;p30"/>
          <p:cNvSpPr txBox="1"/>
          <p:nvPr/>
        </p:nvSpPr>
        <p:spPr>
          <a:xfrm>
            <a:off x="7368200" y="2638050"/>
            <a:ext cx="2982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BF9000"/>
                </a:solidFill>
                <a:latin typeface="Courier New"/>
                <a:ea typeface="Courier New"/>
                <a:cs typeface="Courier New"/>
                <a:sym typeface="Courier New"/>
              </a:rPr>
              <a:t>M</a:t>
            </a:r>
            <a:endParaRPr sz="1600">
              <a:solidFill>
                <a:srgbClr val="BF9000"/>
              </a:solidFill>
              <a:latin typeface="Courier New"/>
              <a:ea typeface="Courier New"/>
              <a:cs typeface="Courier New"/>
              <a:sym typeface="Courier New"/>
            </a:endParaRPr>
          </a:p>
        </p:txBody>
      </p:sp>
      <p:sp>
        <p:nvSpPr>
          <p:cNvPr id="247" name="Google Shape;247;p30"/>
          <p:cNvSpPr txBox="1"/>
          <p:nvPr/>
        </p:nvSpPr>
        <p:spPr>
          <a:xfrm>
            <a:off x="7368200" y="2994300"/>
            <a:ext cx="2982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C0000"/>
                </a:solidFill>
                <a:latin typeface="Courier New"/>
                <a:ea typeface="Courier New"/>
                <a:cs typeface="Courier New"/>
                <a:sym typeface="Courier New"/>
              </a:rPr>
              <a:t>Q</a:t>
            </a:r>
            <a:endParaRPr sz="1600">
              <a:solidFill>
                <a:srgbClr val="CC0000"/>
              </a:solidFill>
              <a:latin typeface="Courier New"/>
              <a:ea typeface="Courier New"/>
              <a:cs typeface="Courier New"/>
              <a:sym typeface="Courier New"/>
            </a:endParaRPr>
          </a:p>
        </p:txBody>
      </p:sp>
      <p:sp>
        <p:nvSpPr>
          <p:cNvPr id="248" name="Google Shape;248;p30"/>
          <p:cNvSpPr txBox="1"/>
          <p:nvPr/>
        </p:nvSpPr>
        <p:spPr>
          <a:xfrm>
            <a:off x="7010400" y="2994300"/>
            <a:ext cx="2982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BF9000"/>
                </a:solidFill>
                <a:latin typeface="Courier New"/>
                <a:ea typeface="Courier New"/>
                <a:cs typeface="Courier New"/>
                <a:sym typeface="Courier New"/>
              </a:rPr>
              <a:t>P</a:t>
            </a:r>
            <a:endParaRPr sz="1600">
              <a:solidFill>
                <a:srgbClr val="BF9000"/>
              </a:solidFill>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1"/>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What Each Token Type Sees: Corner, Edge, and Interior</a:t>
            </a:r>
            <a:endParaRPr sz="2100">
              <a:solidFill>
                <a:srgbClr val="073763"/>
              </a:solidFill>
            </a:endParaRPr>
          </a:p>
        </p:txBody>
      </p:sp>
      <p:sp>
        <p:nvSpPr>
          <p:cNvPr id="254" name="Google Shape;254;p31"/>
          <p:cNvSpPr txBox="1"/>
          <p:nvPr>
            <p:ph idx="1" type="body"/>
          </p:nvPr>
        </p:nvSpPr>
        <p:spPr>
          <a:xfrm>
            <a:off x="2401500" y="1151300"/>
            <a:ext cx="4970100" cy="342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rgbClr val="073763"/>
                </a:solidFill>
              </a:rPr>
              <a:t>Corner: Token A (0,0) </a:t>
            </a:r>
            <a:r>
              <a:rPr b="1" lang="en" sz="1400"/>
              <a:t>–  </a:t>
            </a:r>
            <a:r>
              <a:rPr b="1" lang="en" sz="1400">
                <a:solidFill>
                  <a:srgbClr val="CC0000"/>
                </a:solidFill>
              </a:rPr>
              <a:t>5 zeros, 4 real.</a:t>
            </a:r>
            <a:r>
              <a:rPr b="1" lang="en" sz="1400"/>
              <a:t> Zeros on top row + left col. Unique to top-left corner</a:t>
            </a:r>
            <a:endParaRPr b="1" sz="1400"/>
          </a:p>
          <a:p>
            <a:pPr indent="0" lvl="0" marL="0" rtl="0" algn="l">
              <a:spcBef>
                <a:spcPts val="1200"/>
              </a:spcBef>
              <a:spcAft>
                <a:spcPts val="0"/>
              </a:spcAft>
              <a:buNone/>
            </a:pPr>
            <a:r>
              <a:t/>
            </a:r>
            <a:endParaRPr b="1" sz="1400"/>
          </a:p>
          <a:p>
            <a:pPr indent="0" lvl="0" marL="0" rtl="0" algn="l">
              <a:spcBef>
                <a:spcPts val="1200"/>
              </a:spcBef>
              <a:spcAft>
                <a:spcPts val="0"/>
              </a:spcAft>
              <a:buNone/>
            </a:pPr>
            <a:r>
              <a:rPr b="1" lang="en" sz="1400">
                <a:solidFill>
                  <a:srgbClr val="073763"/>
                </a:solidFill>
              </a:rPr>
              <a:t>Edge: Token B (0,1) </a:t>
            </a:r>
            <a:r>
              <a:rPr b="1" lang="en" sz="1400"/>
              <a:t>– </a:t>
            </a:r>
            <a:r>
              <a:rPr b="1" lang="en" sz="1400">
                <a:solidFill>
                  <a:srgbClr val="F1C232"/>
                </a:solidFill>
              </a:rPr>
              <a:t>3 zeros, 6 real.</a:t>
            </a:r>
            <a:r>
              <a:rPr b="1" lang="en" sz="1400"/>
              <a:t> Zeros across top row only. Same zero pattern as C.</a:t>
            </a:r>
            <a:endParaRPr b="1" sz="1400"/>
          </a:p>
          <a:p>
            <a:pPr indent="0" lvl="0" marL="0" rtl="0" algn="l">
              <a:spcBef>
                <a:spcPts val="1200"/>
              </a:spcBef>
              <a:spcAft>
                <a:spcPts val="0"/>
              </a:spcAft>
              <a:buNone/>
            </a:pPr>
            <a:r>
              <a:t/>
            </a:r>
            <a:endParaRPr b="1" sz="1400"/>
          </a:p>
          <a:p>
            <a:pPr indent="0" lvl="0" marL="0" rtl="0" algn="l">
              <a:spcBef>
                <a:spcPts val="1200"/>
              </a:spcBef>
              <a:spcAft>
                <a:spcPts val="0"/>
              </a:spcAft>
              <a:buNone/>
            </a:pPr>
            <a:r>
              <a:t/>
            </a:r>
            <a:endParaRPr b="1" sz="1400"/>
          </a:p>
          <a:p>
            <a:pPr indent="0" lvl="0" marL="0" rtl="0" algn="l">
              <a:spcBef>
                <a:spcPts val="1200"/>
              </a:spcBef>
              <a:spcAft>
                <a:spcPts val="1200"/>
              </a:spcAft>
              <a:buNone/>
            </a:pPr>
            <a:r>
              <a:rPr b="1" lang="en" sz="1400">
                <a:solidFill>
                  <a:srgbClr val="073763"/>
                </a:solidFill>
              </a:rPr>
              <a:t>Interior: Token F (1,1) </a:t>
            </a:r>
            <a:r>
              <a:rPr b="1" lang="en" sz="1400"/>
              <a:t>– </a:t>
            </a:r>
            <a:r>
              <a:rPr b="1" lang="en" sz="1400">
                <a:solidFill>
                  <a:srgbClr val="6AA84F"/>
                </a:solidFill>
              </a:rPr>
              <a:t>0 zeros, 9 real.</a:t>
            </a:r>
            <a:r>
              <a:rPr b="1" lang="en" sz="1400"/>
              <a:t> Fully surrounded by real. Same pattern as G, J, K.</a:t>
            </a:r>
            <a:endParaRPr b="1" sz="1400"/>
          </a:p>
        </p:txBody>
      </p:sp>
      <p:pic>
        <p:nvPicPr>
          <p:cNvPr id="255" name="Google Shape;255;p31"/>
          <p:cNvPicPr preferRelativeResize="0"/>
          <p:nvPr/>
        </p:nvPicPr>
        <p:blipFill>
          <a:blip r:embed="rId3">
            <a:alphaModFix/>
          </a:blip>
          <a:stretch>
            <a:fillRect/>
          </a:stretch>
        </p:blipFill>
        <p:spPr>
          <a:xfrm>
            <a:off x="744588" y="1104100"/>
            <a:ext cx="1205975" cy="1187225"/>
          </a:xfrm>
          <a:prstGeom prst="rect">
            <a:avLst/>
          </a:prstGeom>
          <a:noFill/>
          <a:ln>
            <a:noFill/>
          </a:ln>
        </p:spPr>
      </p:pic>
      <p:pic>
        <p:nvPicPr>
          <p:cNvPr id="256" name="Google Shape;256;p31"/>
          <p:cNvPicPr preferRelativeResize="0"/>
          <p:nvPr/>
        </p:nvPicPr>
        <p:blipFill>
          <a:blip r:embed="rId4">
            <a:alphaModFix/>
          </a:blip>
          <a:stretch>
            <a:fillRect/>
          </a:stretch>
        </p:blipFill>
        <p:spPr>
          <a:xfrm>
            <a:off x="757025" y="2337063"/>
            <a:ext cx="1263950" cy="1138300"/>
          </a:xfrm>
          <a:prstGeom prst="rect">
            <a:avLst/>
          </a:prstGeom>
          <a:noFill/>
          <a:ln>
            <a:noFill/>
          </a:ln>
        </p:spPr>
      </p:pic>
      <p:pic>
        <p:nvPicPr>
          <p:cNvPr id="257" name="Google Shape;257;p31"/>
          <p:cNvPicPr preferRelativeResize="0"/>
          <p:nvPr/>
        </p:nvPicPr>
        <p:blipFill>
          <a:blip r:embed="rId5">
            <a:alphaModFix/>
          </a:blip>
          <a:stretch>
            <a:fillRect/>
          </a:stretch>
        </p:blipFill>
        <p:spPr>
          <a:xfrm>
            <a:off x="715600" y="3531975"/>
            <a:ext cx="1263950" cy="1096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2"/>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What Each Token Type Sees: Corner, Edge, and Interior</a:t>
            </a:r>
            <a:endParaRPr sz="2100">
              <a:solidFill>
                <a:srgbClr val="073763"/>
              </a:solidFill>
            </a:endParaRPr>
          </a:p>
        </p:txBody>
      </p:sp>
      <p:pic>
        <p:nvPicPr>
          <p:cNvPr id="263" name="Google Shape;263;p32"/>
          <p:cNvPicPr preferRelativeResize="0"/>
          <p:nvPr/>
        </p:nvPicPr>
        <p:blipFill>
          <a:blip r:embed="rId3">
            <a:alphaModFix/>
          </a:blip>
          <a:stretch>
            <a:fillRect/>
          </a:stretch>
        </p:blipFill>
        <p:spPr>
          <a:xfrm>
            <a:off x="4061800" y="1285325"/>
            <a:ext cx="3200400" cy="2152650"/>
          </a:xfrm>
          <a:prstGeom prst="rect">
            <a:avLst/>
          </a:prstGeom>
          <a:noFill/>
          <a:ln>
            <a:noFill/>
          </a:ln>
        </p:spPr>
      </p:pic>
      <p:sp>
        <p:nvSpPr>
          <p:cNvPr id="264" name="Google Shape;264;p32"/>
          <p:cNvSpPr txBox="1"/>
          <p:nvPr/>
        </p:nvSpPr>
        <p:spPr>
          <a:xfrm>
            <a:off x="952500" y="3513350"/>
            <a:ext cx="6452100" cy="843300"/>
          </a:xfrm>
          <a:prstGeom prst="rect">
            <a:avLst/>
          </a:prstGeom>
          <a:solidFill>
            <a:srgbClr val="FFE599"/>
          </a:solidFill>
          <a:ln cap="flat" cmpd="sng" w="38100">
            <a:solidFill>
              <a:srgbClr val="7F6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 sz="1500">
                <a:solidFill>
                  <a:srgbClr val="7F6000"/>
                </a:solidFill>
                <a:latin typeface="Lato"/>
                <a:ea typeface="Lato"/>
                <a:cs typeface="Lato"/>
                <a:sym typeface="Lato"/>
              </a:rPr>
              <a:t>Conclusion: Mix-FFN</a:t>
            </a:r>
            <a:r>
              <a:rPr lang="en" sz="1500">
                <a:solidFill>
                  <a:srgbClr val="7F6000"/>
                </a:solidFill>
                <a:latin typeface="Lato"/>
                <a:ea typeface="Lato"/>
                <a:cs typeface="Lato"/>
                <a:sym typeface="Lato"/>
              </a:rPr>
              <a:t> makes the model essentially resolution-agnostic. The tiny 0.7% drop is from the image content being at a different scale not from any position encoding issue. PE’s 3.3% drop is entirely avoidable overhead.</a:t>
            </a:r>
            <a:endParaRPr sz="1500">
              <a:solidFill>
                <a:srgbClr val="7F6000"/>
              </a:solidFill>
              <a:latin typeface="Lato"/>
              <a:ea typeface="Lato"/>
              <a:cs typeface="Lato"/>
              <a:sym typeface="Lato"/>
            </a:endParaRPr>
          </a:p>
        </p:txBody>
      </p:sp>
      <p:sp>
        <p:nvSpPr>
          <p:cNvPr id="265" name="Google Shape;265;p32"/>
          <p:cNvSpPr txBox="1"/>
          <p:nvPr/>
        </p:nvSpPr>
        <p:spPr>
          <a:xfrm>
            <a:off x="844825" y="1358350"/>
            <a:ext cx="3072900" cy="17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073763"/>
                </a:solidFill>
                <a:latin typeface="Lato"/>
                <a:ea typeface="Lato"/>
                <a:cs typeface="Lato"/>
                <a:sym typeface="Lato"/>
              </a:rPr>
              <a:t>Experiment (Table 1c of paper):</a:t>
            </a:r>
            <a:r>
              <a:rPr lang="en" sz="1800">
                <a:solidFill>
                  <a:schemeClr val="dk2"/>
                </a:solidFill>
                <a:latin typeface="Lato"/>
                <a:ea typeface="Lato"/>
                <a:cs typeface="Lato"/>
                <a:sym typeface="Lato"/>
              </a:rPr>
              <a:t> Train on </a:t>
            </a:r>
            <a:r>
              <a:rPr b="1" lang="en" sz="1800">
                <a:solidFill>
                  <a:schemeClr val="dk2"/>
                </a:solidFill>
                <a:latin typeface="Lato"/>
                <a:ea typeface="Lato"/>
                <a:cs typeface="Lato"/>
                <a:sym typeface="Lato"/>
              </a:rPr>
              <a:t>Cityscapes</a:t>
            </a:r>
            <a:r>
              <a:rPr lang="en" sz="1800">
                <a:solidFill>
                  <a:schemeClr val="dk2"/>
                </a:solidFill>
                <a:latin typeface="Lato"/>
                <a:ea typeface="Lato"/>
                <a:cs typeface="Lato"/>
                <a:sym typeface="Lato"/>
              </a:rPr>
              <a:t> at 768 × 768. Test at two different resolutions. Compare </a:t>
            </a:r>
            <a:r>
              <a:rPr b="1" lang="en" sz="1800">
                <a:solidFill>
                  <a:schemeClr val="dk2"/>
                </a:solidFill>
                <a:latin typeface="Lato"/>
                <a:ea typeface="Lato"/>
                <a:cs typeface="Lato"/>
                <a:sym typeface="Lato"/>
              </a:rPr>
              <a:t>PE</a:t>
            </a:r>
            <a:r>
              <a:rPr lang="en" sz="1800">
                <a:solidFill>
                  <a:schemeClr val="dk2"/>
                </a:solidFill>
                <a:latin typeface="Lato"/>
                <a:ea typeface="Lato"/>
                <a:cs typeface="Lato"/>
                <a:sym typeface="Lato"/>
              </a:rPr>
              <a:t> encoder vs </a:t>
            </a:r>
            <a:r>
              <a:rPr b="1" lang="en" sz="1800">
                <a:solidFill>
                  <a:schemeClr val="dk2"/>
                </a:solidFill>
                <a:latin typeface="Lato"/>
                <a:ea typeface="Lato"/>
                <a:cs typeface="Lato"/>
                <a:sym typeface="Lato"/>
              </a:rPr>
              <a:t>Mix-FFN</a:t>
            </a:r>
            <a:r>
              <a:rPr lang="en" sz="1800">
                <a:solidFill>
                  <a:schemeClr val="dk2"/>
                </a:solidFill>
                <a:latin typeface="Lato"/>
                <a:ea typeface="Lato"/>
                <a:cs typeface="Lato"/>
                <a:sym typeface="Lato"/>
              </a:rPr>
              <a:t> encoder.</a:t>
            </a:r>
            <a:endParaRPr sz="1800">
              <a:solidFill>
                <a:schemeClr val="dk2"/>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33"/>
          <p:cNvPicPr preferRelativeResize="0"/>
          <p:nvPr/>
        </p:nvPicPr>
        <p:blipFill>
          <a:blip r:embed="rId3">
            <a:alphaModFix/>
          </a:blip>
          <a:stretch>
            <a:fillRect/>
          </a:stretch>
        </p:blipFill>
        <p:spPr>
          <a:xfrm>
            <a:off x="472100" y="325575"/>
            <a:ext cx="8519499" cy="4614725"/>
          </a:xfrm>
          <a:prstGeom prst="rect">
            <a:avLst/>
          </a:prstGeom>
          <a:noFill/>
          <a:ln>
            <a:noFill/>
          </a:ln>
        </p:spPr>
      </p:pic>
      <p:sp>
        <p:nvSpPr>
          <p:cNvPr id="271" name="Google Shape;271;p33"/>
          <p:cNvSpPr txBox="1"/>
          <p:nvPr>
            <p:ph type="title"/>
          </p:nvPr>
        </p:nvSpPr>
        <p:spPr>
          <a:xfrm>
            <a:off x="380550" y="2159850"/>
            <a:ext cx="1830900" cy="82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Full Encoder Pipeline</a:t>
            </a:r>
            <a:endParaRPr sz="2100">
              <a:solidFill>
                <a:srgbClr val="073763"/>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4"/>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The All-MLP Decoder</a:t>
            </a:r>
            <a:endParaRPr sz="2100">
              <a:solidFill>
                <a:srgbClr val="073763"/>
              </a:solidFill>
            </a:endParaRPr>
          </a:p>
        </p:txBody>
      </p:sp>
      <p:sp>
        <p:nvSpPr>
          <p:cNvPr id="277" name="Google Shape;277;p34"/>
          <p:cNvSpPr txBox="1"/>
          <p:nvPr/>
        </p:nvSpPr>
        <p:spPr>
          <a:xfrm>
            <a:off x="306450" y="2915825"/>
            <a:ext cx="5632200" cy="1739400"/>
          </a:xfrm>
          <a:prstGeom prst="rect">
            <a:avLst/>
          </a:prstGeom>
          <a:solidFill>
            <a:srgbClr val="FFE599"/>
          </a:solidFill>
          <a:ln cap="flat" cmpd="sng" w="38100">
            <a:solidFill>
              <a:srgbClr val="7F6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 sz="1500">
                <a:solidFill>
                  <a:srgbClr val="7F6000"/>
                </a:solidFill>
                <a:latin typeface="Lato"/>
                <a:ea typeface="Lato"/>
                <a:cs typeface="Lato"/>
                <a:sym typeface="Lato"/>
              </a:rPr>
              <a:t>Heavy CNN decoders (ASPP, PPM) exist to compensate for the CNN encoder’s </a:t>
            </a:r>
            <a:r>
              <a:rPr i="1" lang="en" sz="1500" u="sng">
                <a:solidFill>
                  <a:srgbClr val="7F6000"/>
                </a:solidFill>
                <a:latin typeface="Lato"/>
                <a:ea typeface="Lato"/>
                <a:cs typeface="Lato"/>
                <a:sym typeface="Lato"/>
              </a:rPr>
              <a:t>small receptive field</a:t>
            </a:r>
            <a:r>
              <a:rPr lang="en" sz="1500">
                <a:solidFill>
                  <a:srgbClr val="7F6000"/>
                </a:solidFill>
                <a:latin typeface="Lato"/>
                <a:ea typeface="Lato"/>
                <a:cs typeface="Lato"/>
                <a:sym typeface="Lato"/>
              </a:rPr>
              <a:t>, they must artificially inject global context the encoder cannot provide. The Transformer encoder already captures global context through self-attention, making those modules redundant. A simple MLP decoder is therefore not a compromise, it is the correct design given a Transformer backbone.</a:t>
            </a:r>
            <a:endParaRPr sz="1500">
              <a:solidFill>
                <a:srgbClr val="7F6000"/>
              </a:solidFill>
              <a:latin typeface="Lato"/>
              <a:ea typeface="Lato"/>
              <a:cs typeface="Lato"/>
              <a:sym typeface="Lato"/>
            </a:endParaRPr>
          </a:p>
        </p:txBody>
      </p:sp>
      <p:sp>
        <p:nvSpPr>
          <p:cNvPr id="278" name="Google Shape;278;p34"/>
          <p:cNvSpPr txBox="1"/>
          <p:nvPr/>
        </p:nvSpPr>
        <p:spPr>
          <a:xfrm>
            <a:off x="306450" y="1058350"/>
            <a:ext cx="5549400" cy="17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073763"/>
                </a:solidFill>
                <a:latin typeface="Lato"/>
                <a:ea typeface="Lato"/>
                <a:cs typeface="Lato"/>
                <a:sym typeface="Lato"/>
              </a:rPr>
              <a:t>Four sequential steps: </a:t>
            </a:r>
            <a:endParaRPr b="1" sz="1800">
              <a:solidFill>
                <a:srgbClr val="073763"/>
              </a:solidFill>
              <a:latin typeface="Lato"/>
              <a:ea typeface="Lato"/>
              <a:cs typeface="Lato"/>
              <a:sym typeface="Lato"/>
            </a:endParaRPr>
          </a:p>
          <a:p>
            <a:pPr indent="0" lvl="0" marL="0" rtl="0" algn="l">
              <a:spcBef>
                <a:spcPts val="0"/>
              </a:spcBef>
              <a:spcAft>
                <a:spcPts val="0"/>
              </a:spcAft>
              <a:buNone/>
            </a:pPr>
            <a:r>
              <a:rPr lang="en" sz="1800">
                <a:latin typeface="Lato"/>
                <a:ea typeface="Lato"/>
                <a:cs typeface="Lato"/>
                <a:sym typeface="Lato"/>
              </a:rPr>
              <a:t>1. Unify channel dimensions across all encoder feature maps </a:t>
            </a:r>
            <a:endParaRPr sz="1800">
              <a:latin typeface="Lato"/>
              <a:ea typeface="Lato"/>
              <a:cs typeface="Lato"/>
              <a:sym typeface="Lato"/>
            </a:endParaRPr>
          </a:p>
          <a:p>
            <a:pPr indent="0" lvl="0" marL="0" rtl="0" algn="l">
              <a:spcBef>
                <a:spcPts val="0"/>
              </a:spcBef>
              <a:spcAft>
                <a:spcPts val="0"/>
              </a:spcAft>
              <a:buNone/>
            </a:pPr>
            <a:r>
              <a:rPr lang="en" sz="1800">
                <a:latin typeface="Lato"/>
                <a:ea typeface="Lato"/>
                <a:cs typeface="Lato"/>
                <a:sym typeface="Lato"/>
              </a:rPr>
              <a:t>2. Upsample all maps to the same spatial resolution </a:t>
            </a:r>
            <a:endParaRPr sz="1800">
              <a:latin typeface="Lato"/>
              <a:ea typeface="Lato"/>
              <a:cs typeface="Lato"/>
              <a:sym typeface="Lato"/>
            </a:endParaRPr>
          </a:p>
          <a:p>
            <a:pPr indent="0" lvl="0" marL="0" rtl="0" algn="l">
              <a:spcBef>
                <a:spcPts val="0"/>
              </a:spcBef>
              <a:spcAft>
                <a:spcPts val="0"/>
              </a:spcAft>
              <a:buNone/>
            </a:pPr>
            <a:r>
              <a:rPr lang="en" sz="1800">
                <a:latin typeface="Lato"/>
                <a:ea typeface="Lato"/>
                <a:cs typeface="Lato"/>
                <a:sym typeface="Lato"/>
              </a:rPr>
              <a:t>3. Concatenate and fuse with an MLP </a:t>
            </a:r>
            <a:endParaRPr sz="1800">
              <a:latin typeface="Lato"/>
              <a:ea typeface="Lato"/>
              <a:cs typeface="Lato"/>
              <a:sym typeface="Lato"/>
            </a:endParaRPr>
          </a:p>
          <a:p>
            <a:pPr indent="0" lvl="0" marL="0" rtl="0" algn="l">
              <a:spcBef>
                <a:spcPts val="0"/>
              </a:spcBef>
              <a:spcAft>
                <a:spcPts val="0"/>
              </a:spcAft>
              <a:buNone/>
            </a:pPr>
            <a:r>
              <a:rPr lang="en" sz="1800">
                <a:latin typeface="Lato"/>
                <a:ea typeface="Lato"/>
                <a:cs typeface="Lato"/>
                <a:sym typeface="Lato"/>
              </a:rPr>
              <a:t>4. Predict the segmentation mask with a final MLP</a:t>
            </a:r>
            <a:endParaRPr sz="1800">
              <a:latin typeface="Lato"/>
              <a:ea typeface="Lato"/>
              <a:cs typeface="Lato"/>
              <a:sym typeface="Lato"/>
            </a:endParaRPr>
          </a:p>
        </p:txBody>
      </p:sp>
      <p:pic>
        <p:nvPicPr>
          <p:cNvPr id="279" name="Google Shape;279;p34"/>
          <p:cNvPicPr preferRelativeResize="0"/>
          <p:nvPr/>
        </p:nvPicPr>
        <p:blipFill>
          <a:blip r:embed="rId3">
            <a:alphaModFix/>
          </a:blip>
          <a:stretch>
            <a:fillRect/>
          </a:stretch>
        </p:blipFill>
        <p:spPr>
          <a:xfrm>
            <a:off x="5214500" y="575950"/>
            <a:ext cx="3929501" cy="2947126"/>
          </a:xfrm>
          <a:prstGeom prst="rect">
            <a:avLst/>
          </a:prstGeom>
          <a:noFill/>
          <a:ln>
            <a:noFill/>
          </a:ln>
        </p:spPr>
      </p:pic>
      <p:cxnSp>
        <p:nvCxnSpPr>
          <p:cNvPr id="280" name="Google Shape;280;p34"/>
          <p:cNvCxnSpPr/>
          <p:nvPr/>
        </p:nvCxnSpPr>
        <p:spPr>
          <a:xfrm rot="5400000">
            <a:off x="7529800" y="1407125"/>
            <a:ext cx="1754100" cy="911100"/>
          </a:xfrm>
          <a:prstGeom prst="bentConnector3">
            <a:avLst>
              <a:gd fmla="val 100576" name="adj1"/>
            </a:avLst>
          </a:prstGeom>
          <a:noFill/>
          <a:ln cap="flat" cmpd="sng" w="9525">
            <a:solidFill>
              <a:schemeClr val="dk2"/>
            </a:solidFill>
            <a:prstDash val="solid"/>
            <a:round/>
            <a:headEnd len="med" w="med" type="oval"/>
            <a:tailEnd len="med" w="med" type="triangle"/>
          </a:ln>
        </p:spPr>
      </p:cxnSp>
      <p:cxnSp>
        <p:nvCxnSpPr>
          <p:cNvPr id="281" name="Google Shape;281;p34"/>
          <p:cNvCxnSpPr/>
          <p:nvPr/>
        </p:nvCxnSpPr>
        <p:spPr>
          <a:xfrm rot="5400000">
            <a:off x="7649000" y="1718600"/>
            <a:ext cx="1267200" cy="679200"/>
          </a:xfrm>
          <a:prstGeom prst="bentConnector3">
            <a:avLst>
              <a:gd fmla="val 99351" name="adj1"/>
            </a:avLst>
          </a:prstGeom>
          <a:noFill/>
          <a:ln cap="flat" cmpd="sng" w="9525">
            <a:solidFill>
              <a:schemeClr val="dk2"/>
            </a:solidFill>
            <a:prstDash val="solid"/>
            <a:round/>
            <a:headEnd len="med" w="med" type="oval"/>
            <a:tailEnd len="med" w="med" type="triangle"/>
          </a:ln>
        </p:spPr>
      </p:cxnSp>
      <p:cxnSp>
        <p:nvCxnSpPr>
          <p:cNvPr id="282" name="Google Shape;282;p34"/>
          <p:cNvCxnSpPr/>
          <p:nvPr/>
        </p:nvCxnSpPr>
        <p:spPr>
          <a:xfrm rot="5400000">
            <a:off x="7762850" y="2031300"/>
            <a:ext cx="766200" cy="389100"/>
          </a:xfrm>
          <a:prstGeom prst="bentConnector3">
            <a:avLst>
              <a:gd fmla="val 98930" name="adj1"/>
            </a:avLst>
          </a:prstGeom>
          <a:noFill/>
          <a:ln cap="flat" cmpd="sng" w="9525">
            <a:solidFill>
              <a:schemeClr val="dk2"/>
            </a:solidFill>
            <a:prstDash val="solid"/>
            <a:round/>
            <a:headEnd len="med" w="med" type="oval"/>
            <a:tailEnd len="med" w="med" type="triangle"/>
          </a:ln>
        </p:spPr>
      </p:cxnSp>
      <p:cxnSp>
        <p:nvCxnSpPr>
          <p:cNvPr id="283" name="Google Shape;283;p34"/>
          <p:cNvCxnSpPr/>
          <p:nvPr/>
        </p:nvCxnSpPr>
        <p:spPr>
          <a:xfrm rot="5400000">
            <a:off x="7868525" y="2335675"/>
            <a:ext cx="248400" cy="82800"/>
          </a:xfrm>
          <a:prstGeom prst="bentConnector3">
            <a:avLst>
              <a:gd fmla="val 90026" name="adj1"/>
            </a:avLst>
          </a:prstGeom>
          <a:noFill/>
          <a:ln cap="flat" cmpd="sng" w="9525">
            <a:solidFill>
              <a:schemeClr val="dk2"/>
            </a:solidFill>
            <a:prstDash val="solid"/>
            <a:round/>
            <a:headEnd len="med" w="med" type="oval"/>
            <a:tailEnd len="med" w="med" type="triangle"/>
          </a:ln>
        </p:spPr>
      </p:cxnSp>
      <p:cxnSp>
        <p:nvCxnSpPr>
          <p:cNvPr id="284" name="Google Shape;284;p34"/>
          <p:cNvCxnSpPr/>
          <p:nvPr/>
        </p:nvCxnSpPr>
        <p:spPr>
          <a:xfrm>
            <a:off x="7184800" y="2767175"/>
            <a:ext cx="8100" cy="156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5"/>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What Each Token Type Sees: Corner, Edge, and Interior</a:t>
            </a:r>
            <a:endParaRPr sz="2100">
              <a:solidFill>
                <a:srgbClr val="073763"/>
              </a:solidFill>
            </a:endParaRPr>
          </a:p>
        </p:txBody>
      </p:sp>
      <p:sp>
        <p:nvSpPr>
          <p:cNvPr id="290" name="Google Shape;290;p35"/>
          <p:cNvSpPr txBox="1"/>
          <p:nvPr/>
        </p:nvSpPr>
        <p:spPr>
          <a:xfrm>
            <a:off x="662600" y="3513425"/>
            <a:ext cx="7512300" cy="1066800"/>
          </a:xfrm>
          <a:prstGeom prst="rect">
            <a:avLst/>
          </a:prstGeom>
          <a:solidFill>
            <a:srgbClr val="FFE599"/>
          </a:solidFill>
          <a:ln cap="flat" cmpd="sng" w="38100">
            <a:solidFill>
              <a:srgbClr val="7F6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 sz="1500">
                <a:solidFill>
                  <a:srgbClr val="7F6000"/>
                </a:solidFill>
                <a:latin typeface="Lato"/>
                <a:ea typeface="Lato"/>
                <a:cs typeface="Lato"/>
                <a:sym typeface="Lato"/>
              </a:rPr>
              <a:t>• </a:t>
            </a:r>
            <a:r>
              <a:rPr lang="en" sz="1500">
                <a:solidFill>
                  <a:srgbClr val="7F6000"/>
                </a:solidFill>
                <a:latin typeface="Lato"/>
                <a:ea typeface="Lato"/>
                <a:cs typeface="Lato"/>
                <a:sym typeface="Lato"/>
              </a:rPr>
              <a:t>Every learnable operation is a pointwise linear layer </a:t>
            </a:r>
            <a:endParaRPr sz="1500">
              <a:solidFill>
                <a:srgbClr val="7F6000"/>
              </a:solidFill>
              <a:latin typeface="Lato"/>
              <a:ea typeface="Lato"/>
              <a:cs typeface="Lato"/>
              <a:sym typeface="Lato"/>
            </a:endParaRPr>
          </a:p>
          <a:p>
            <a:pPr indent="0" lvl="0" marL="0" rtl="0" algn="just">
              <a:spcBef>
                <a:spcPts val="0"/>
              </a:spcBef>
              <a:spcAft>
                <a:spcPts val="0"/>
              </a:spcAft>
              <a:buNone/>
            </a:pPr>
            <a:r>
              <a:rPr lang="en" sz="1500">
                <a:solidFill>
                  <a:srgbClr val="7F6000"/>
                </a:solidFill>
                <a:latin typeface="Lato"/>
                <a:ea typeface="Lato"/>
                <a:cs typeface="Lato"/>
                <a:sym typeface="Lato"/>
              </a:rPr>
              <a:t>• No convolution, no spatial cross-position mixing </a:t>
            </a:r>
            <a:endParaRPr sz="1500">
              <a:solidFill>
                <a:srgbClr val="7F6000"/>
              </a:solidFill>
              <a:latin typeface="Lato"/>
              <a:ea typeface="Lato"/>
              <a:cs typeface="Lato"/>
              <a:sym typeface="Lato"/>
            </a:endParaRPr>
          </a:p>
          <a:p>
            <a:pPr indent="0" lvl="0" marL="0" rtl="0" algn="just">
              <a:spcBef>
                <a:spcPts val="0"/>
              </a:spcBef>
              <a:spcAft>
                <a:spcPts val="0"/>
              </a:spcAft>
              <a:buNone/>
            </a:pPr>
            <a:r>
              <a:rPr lang="en" sz="1500">
                <a:solidFill>
                  <a:srgbClr val="7F6000"/>
                </a:solidFill>
                <a:latin typeface="Lato"/>
                <a:ea typeface="Lato"/>
                <a:cs typeface="Lato"/>
                <a:sym typeface="Lato"/>
              </a:rPr>
              <a:t>• Spatial context is already encoded by the Transformer encoder; the decoder only needs to aggregate and classify</a:t>
            </a:r>
            <a:endParaRPr sz="1500">
              <a:solidFill>
                <a:srgbClr val="7F6000"/>
              </a:solidFill>
              <a:latin typeface="Lato"/>
              <a:ea typeface="Lato"/>
              <a:cs typeface="Lato"/>
              <a:sym typeface="Lato"/>
            </a:endParaRPr>
          </a:p>
        </p:txBody>
      </p:sp>
      <p:sp>
        <p:nvSpPr>
          <p:cNvPr id="291" name="Google Shape;291;p35"/>
          <p:cNvSpPr txBox="1"/>
          <p:nvPr/>
        </p:nvSpPr>
        <p:spPr>
          <a:xfrm>
            <a:off x="430700" y="1134725"/>
            <a:ext cx="4406100" cy="237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073763"/>
                </a:solidFill>
                <a:latin typeface="Lato"/>
                <a:ea typeface="Lato"/>
                <a:cs typeface="Lato"/>
                <a:sym typeface="Lato"/>
              </a:rPr>
              <a:t>•Linear(</a:t>
            </a:r>
            <a:r>
              <a:rPr lang="en" sz="1800">
                <a:solidFill>
                  <a:srgbClr val="073763"/>
                </a:solidFill>
                <a:latin typeface="Lato"/>
                <a:ea typeface="Lato"/>
                <a:cs typeface="Lato"/>
                <a:sym typeface="Lato"/>
              </a:rPr>
              <a:t>𝐶</a:t>
            </a:r>
            <a:r>
              <a:rPr baseline="-25000" i="1" lang="en" sz="1800">
                <a:solidFill>
                  <a:srgbClr val="073763"/>
                </a:solidFill>
                <a:latin typeface="Lato"/>
                <a:ea typeface="Lato"/>
                <a:cs typeface="Lato"/>
                <a:sym typeface="Lato"/>
              </a:rPr>
              <a:t>in</a:t>
            </a:r>
            <a:r>
              <a:rPr i="1" lang="en" sz="1800">
                <a:solidFill>
                  <a:srgbClr val="073763"/>
                </a:solidFill>
                <a:latin typeface="Lato"/>
                <a:ea typeface="Lato"/>
                <a:cs typeface="Lato"/>
                <a:sym typeface="Lato"/>
              </a:rPr>
              <a:t>, </a:t>
            </a:r>
            <a:r>
              <a:rPr lang="en" sz="1800">
                <a:solidFill>
                  <a:srgbClr val="073763"/>
                </a:solidFill>
                <a:latin typeface="Lato"/>
                <a:ea typeface="Lato"/>
                <a:cs typeface="Lato"/>
                <a:sym typeface="Lato"/>
              </a:rPr>
              <a:t>𝐶</a:t>
            </a:r>
            <a:r>
              <a:rPr baseline="-25000" i="1" lang="en" sz="1800">
                <a:solidFill>
                  <a:srgbClr val="073763"/>
                </a:solidFill>
                <a:latin typeface="Lato"/>
                <a:ea typeface="Lato"/>
                <a:cs typeface="Lato"/>
                <a:sym typeface="Lato"/>
              </a:rPr>
              <a:t>out</a:t>
            </a:r>
            <a:r>
              <a:rPr i="1" lang="en" sz="1800">
                <a:solidFill>
                  <a:srgbClr val="073763"/>
                </a:solidFill>
                <a:latin typeface="Lato"/>
                <a:ea typeface="Lato"/>
                <a:cs typeface="Lato"/>
                <a:sym typeface="Lato"/>
              </a:rPr>
              <a:t>)(·) — learnable linear layer, applied independently at each spatial position (no spatial mixing) </a:t>
            </a:r>
            <a:endParaRPr i="1" sz="1800">
              <a:solidFill>
                <a:srgbClr val="073763"/>
              </a:solidFill>
              <a:latin typeface="Lato"/>
              <a:ea typeface="Lato"/>
              <a:cs typeface="Lato"/>
              <a:sym typeface="Lato"/>
            </a:endParaRPr>
          </a:p>
          <a:p>
            <a:pPr indent="0" lvl="0" marL="0" rtl="0" algn="l">
              <a:spcBef>
                <a:spcPts val="0"/>
              </a:spcBef>
              <a:spcAft>
                <a:spcPts val="0"/>
              </a:spcAft>
              <a:buNone/>
            </a:pPr>
            <a:r>
              <a:rPr i="1" lang="en" sz="1800">
                <a:solidFill>
                  <a:srgbClr val="073763"/>
                </a:solidFill>
                <a:latin typeface="Lato"/>
                <a:ea typeface="Lato"/>
                <a:cs typeface="Lato"/>
                <a:sym typeface="Lato"/>
              </a:rPr>
              <a:t>• C — unified channel dim: 256 for B</a:t>
            </a:r>
            <a:r>
              <a:rPr baseline="-25000" i="1" lang="en" sz="1800">
                <a:solidFill>
                  <a:srgbClr val="073763"/>
                </a:solidFill>
                <a:latin typeface="Lato"/>
                <a:ea typeface="Lato"/>
                <a:cs typeface="Lato"/>
                <a:sym typeface="Lato"/>
              </a:rPr>
              <a:t>0</a:t>
            </a:r>
            <a:r>
              <a:rPr i="1" lang="en" sz="1800">
                <a:solidFill>
                  <a:srgbClr val="073763"/>
                </a:solidFill>
                <a:latin typeface="Lato"/>
                <a:ea typeface="Lato"/>
                <a:cs typeface="Lato"/>
                <a:sym typeface="Lato"/>
              </a:rPr>
              <a:t>/B</a:t>
            </a:r>
            <a:r>
              <a:rPr baseline="-25000" i="1" lang="en" sz="1800">
                <a:solidFill>
                  <a:srgbClr val="073763"/>
                </a:solidFill>
                <a:latin typeface="Lato"/>
                <a:ea typeface="Lato"/>
                <a:cs typeface="Lato"/>
                <a:sym typeface="Lato"/>
              </a:rPr>
              <a:t>1</a:t>
            </a:r>
            <a:r>
              <a:rPr i="1" lang="en" sz="1800">
                <a:solidFill>
                  <a:srgbClr val="073763"/>
                </a:solidFill>
                <a:latin typeface="Lato"/>
                <a:ea typeface="Lato"/>
                <a:cs typeface="Lato"/>
                <a:sym typeface="Lato"/>
              </a:rPr>
              <a:t>, 768 for B</a:t>
            </a:r>
            <a:r>
              <a:rPr baseline="-25000" i="1" lang="en" sz="1800">
                <a:solidFill>
                  <a:srgbClr val="073763"/>
                </a:solidFill>
                <a:latin typeface="Lato"/>
                <a:ea typeface="Lato"/>
                <a:cs typeface="Lato"/>
                <a:sym typeface="Lato"/>
              </a:rPr>
              <a:t>2</a:t>
            </a:r>
            <a:r>
              <a:rPr i="1" lang="en" sz="1800">
                <a:solidFill>
                  <a:srgbClr val="073763"/>
                </a:solidFill>
                <a:latin typeface="Lato"/>
                <a:ea typeface="Lato"/>
                <a:cs typeface="Lato"/>
                <a:sym typeface="Lato"/>
              </a:rPr>
              <a:t>–B</a:t>
            </a:r>
            <a:r>
              <a:rPr baseline="-25000" i="1" lang="en" sz="1800">
                <a:solidFill>
                  <a:srgbClr val="073763"/>
                </a:solidFill>
                <a:latin typeface="Lato"/>
                <a:ea typeface="Lato"/>
                <a:cs typeface="Lato"/>
                <a:sym typeface="Lato"/>
              </a:rPr>
              <a:t>5</a:t>
            </a:r>
            <a:r>
              <a:rPr i="1" lang="en" sz="1800">
                <a:solidFill>
                  <a:srgbClr val="073763"/>
                </a:solidFill>
                <a:latin typeface="Lato"/>
                <a:ea typeface="Lato"/>
                <a:cs typeface="Lato"/>
                <a:sym typeface="Lato"/>
              </a:rPr>
              <a:t> </a:t>
            </a:r>
            <a:endParaRPr i="1" sz="1800">
              <a:solidFill>
                <a:srgbClr val="073763"/>
              </a:solidFill>
              <a:latin typeface="Lato"/>
              <a:ea typeface="Lato"/>
              <a:cs typeface="Lato"/>
              <a:sym typeface="Lato"/>
            </a:endParaRPr>
          </a:p>
          <a:p>
            <a:pPr indent="0" lvl="0" marL="0" rtl="0" algn="l">
              <a:spcBef>
                <a:spcPts val="0"/>
              </a:spcBef>
              <a:spcAft>
                <a:spcPts val="0"/>
              </a:spcAft>
              <a:buNone/>
            </a:pPr>
            <a:r>
              <a:rPr i="1" lang="en" sz="1800">
                <a:solidFill>
                  <a:srgbClr val="073763"/>
                </a:solidFill>
                <a:latin typeface="Lato"/>
                <a:ea typeface="Lato"/>
                <a:cs typeface="Lato"/>
                <a:sym typeface="Lato"/>
              </a:rPr>
              <a:t>• </a:t>
            </a:r>
            <a:r>
              <a:rPr lang="en" sz="1800">
                <a:solidFill>
                  <a:srgbClr val="073763"/>
                </a:solidFill>
                <a:latin typeface="Lato"/>
                <a:ea typeface="Lato"/>
                <a:cs typeface="Lato"/>
                <a:sym typeface="Lato"/>
              </a:rPr>
              <a:t>𝑁</a:t>
            </a:r>
            <a:r>
              <a:rPr baseline="-25000" i="1" lang="en" sz="1800">
                <a:solidFill>
                  <a:srgbClr val="073763"/>
                </a:solidFill>
                <a:latin typeface="Lato"/>
                <a:ea typeface="Lato"/>
                <a:cs typeface="Lato"/>
                <a:sym typeface="Lato"/>
              </a:rPr>
              <a:t>cls</a:t>
            </a:r>
            <a:r>
              <a:rPr i="1" lang="en" sz="1800">
                <a:solidFill>
                  <a:srgbClr val="073763"/>
                </a:solidFill>
                <a:latin typeface="Lato"/>
                <a:ea typeface="Lato"/>
                <a:cs typeface="Lato"/>
                <a:sym typeface="Lato"/>
              </a:rPr>
              <a:t> </a:t>
            </a:r>
            <a:r>
              <a:rPr i="1" lang="en" sz="1800">
                <a:solidFill>
                  <a:srgbClr val="073763"/>
                </a:solidFill>
                <a:latin typeface="Lato"/>
                <a:ea typeface="Lato"/>
                <a:cs typeface="Lato"/>
                <a:sym typeface="Lato"/>
              </a:rPr>
              <a:t>— category count: 150 (ADE20K), 19 (Cityscapes) </a:t>
            </a:r>
            <a:endParaRPr i="1" sz="1800">
              <a:solidFill>
                <a:srgbClr val="073763"/>
              </a:solidFill>
              <a:latin typeface="Lato"/>
              <a:ea typeface="Lato"/>
              <a:cs typeface="Lato"/>
              <a:sym typeface="Lato"/>
            </a:endParaRPr>
          </a:p>
          <a:p>
            <a:pPr indent="0" lvl="0" marL="0" rtl="0" algn="l">
              <a:spcBef>
                <a:spcPts val="0"/>
              </a:spcBef>
              <a:spcAft>
                <a:spcPts val="0"/>
              </a:spcAft>
              <a:buNone/>
            </a:pPr>
            <a:r>
              <a:rPr i="1" lang="en" sz="1800">
                <a:solidFill>
                  <a:srgbClr val="073763"/>
                </a:solidFill>
                <a:latin typeface="Lato"/>
                <a:ea typeface="Lato"/>
                <a:cs typeface="Lato"/>
                <a:sym typeface="Lato"/>
              </a:rPr>
              <a:t>• </a:t>
            </a:r>
            <a:r>
              <a:rPr lang="en" sz="1800">
                <a:solidFill>
                  <a:srgbClr val="073763"/>
                </a:solidFill>
                <a:latin typeface="Lato"/>
                <a:ea typeface="Lato"/>
                <a:cs typeface="Lato"/>
                <a:sym typeface="Lato"/>
              </a:rPr>
              <a:t>𝑀</a:t>
            </a:r>
            <a:r>
              <a:rPr i="1" lang="en" sz="1800">
                <a:solidFill>
                  <a:srgbClr val="073763"/>
                </a:solidFill>
                <a:latin typeface="Lato"/>
                <a:ea typeface="Lato"/>
                <a:cs typeface="Lato"/>
                <a:sym typeface="Lato"/>
              </a:rPr>
              <a:t> — predicted segmentation mask</a:t>
            </a:r>
            <a:endParaRPr sz="1800">
              <a:solidFill>
                <a:schemeClr val="dk2"/>
              </a:solidFill>
              <a:latin typeface="Lato"/>
              <a:ea typeface="Lato"/>
              <a:cs typeface="Lato"/>
              <a:sym typeface="Lato"/>
            </a:endParaRPr>
          </a:p>
        </p:txBody>
      </p:sp>
      <p:pic>
        <p:nvPicPr>
          <p:cNvPr id="292" name="Google Shape;292;p35"/>
          <p:cNvPicPr preferRelativeResize="0"/>
          <p:nvPr/>
        </p:nvPicPr>
        <p:blipFill>
          <a:blip r:embed="rId3">
            <a:alphaModFix/>
          </a:blip>
          <a:stretch>
            <a:fillRect/>
          </a:stretch>
        </p:blipFill>
        <p:spPr>
          <a:xfrm>
            <a:off x="5080600" y="1235575"/>
            <a:ext cx="3839775" cy="18647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6"/>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Step 1: Unify Channel Dimensions</a:t>
            </a:r>
            <a:endParaRPr sz="2100">
              <a:solidFill>
                <a:srgbClr val="073763"/>
              </a:solidFill>
            </a:endParaRPr>
          </a:p>
          <a:p>
            <a:pPr indent="0" lvl="0" marL="0" rtl="0" algn="l">
              <a:spcBef>
                <a:spcPts val="0"/>
              </a:spcBef>
              <a:spcAft>
                <a:spcPts val="0"/>
              </a:spcAft>
              <a:buSzPts val="990"/>
              <a:buNone/>
            </a:pPr>
            <a:r>
              <a:t/>
            </a:r>
            <a:endParaRPr sz="2100">
              <a:solidFill>
                <a:srgbClr val="073763"/>
              </a:solidFill>
            </a:endParaRPr>
          </a:p>
        </p:txBody>
      </p:sp>
      <p:sp>
        <p:nvSpPr>
          <p:cNvPr id="298" name="Google Shape;298;p36"/>
          <p:cNvSpPr txBox="1"/>
          <p:nvPr/>
        </p:nvSpPr>
        <p:spPr>
          <a:xfrm>
            <a:off x="455525" y="2446275"/>
            <a:ext cx="3627900" cy="147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1D1D1D"/>
                </a:solidFill>
                <a:latin typeface="Lato"/>
                <a:ea typeface="Lato"/>
                <a:cs typeface="Lato"/>
                <a:sym typeface="Lato"/>
              </a:rPr>
              <a:t>Each encoder stage outputs a different channel count. Deeper stages encode richer semantic information in more channels.</a:t>
            </a:r>
            <a:endParaRPr sz="1800">
              <a:solidFill>
                <a:srgbClr val="1D1D1D"/>
              </a:solidFill>
              <a:latin typeface="Lato"/>
              <a:ea typeface="Lato"/>
              <a:cs typeface="Lato"/>
              <a:sym typeface="Lato"/>
            </a:endParaRPr>
          </a:p>
        </p:txBody>
      </p:sp>
      <p:pic>
        <p:nvPicPr>
          <p:cNvPr id="299" name="Google Shape;299;p36"/>
          <p:cNvPicPr preferRelativeResize="0"/>
          <p:nvPr/>
        </p:nvPicPr>
        <p:blipFill>
          <a:blip r:embed="rId3">
            <a:alphaModFix/>
          </a:blip>
          <a:stretch>
            <a:fillRect/>
          </a:stretch>
        </p:blipFill>
        <p:spPr>
          <a:xfrm>
            <a:off x="1523999" y="1234848"/>
            <a:ext cx="6035600" cy="651475"/>
          </a:xfrm>
          <a:prstGeom prst="rect">
            <a:avLst/>
          </a:prstGeom>
          <a:noFill/>
          <a:ln>
            <a:noFill/>
          </a:ln>
        </p:spPr>
      </p:pic>
      <p:pic>
        <p:nvPicPr>
          <p:cNvPr id="300" name="Google Shape;300;p36"/>
          <p:cNvPicPr preferRelativeResize="0"/>
          <p:nvPr/>
        </p:nvPicPr>
        <p:blipFill>
          <a:blip r:embed="rId4">
            <a:alphaModFix/>
          </a:blip>
          <a:stretch>
            <a:fillRect/>
          </a:stretch>
        </p:blipFill>
        <p:spPr>
          <a:xfrm>
            <a:off x="4472701" y="2285975"/>
            <a:ext cx="3831449" cy="193298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7"/>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Step 2: Upsample to a Common Spatial Resolution</a:t>
            </a:r>
            <a:endParaRPr sz="2100">
              <a:solidFill>
                <a:srgbClr val="073763"/>
              </a:solidFill>
            </a:endParaRPr>
          </a:p>
        </p:txBody>
      </p:sp>
      <p:sp>
        <p:nvSpPr>
          <p:cNvPr id="306" name="Google Shape;306;p37"/>
          <p:cNvSpPr txBox="1"/>
          <p:nvPr/>
        </p:nvSpPr>
        <p:spPr>
          <a:xfrm>
            <a:off x="869700" y="3581275"/>
            <a:ext cx="7694400" cy="1060200"/>
          </a:xfrm>
          <a:prstGeom prst="rect">
            <a:avLst/>
          </a:prstGeom>
          <a:solidFill>
            <a:srgbClr val="FFE599"/>
          </a:solidFill>
          <a:ln cap="flat" cmpd="sng" w="38100">
            <a:solidFill>
              <a:srgbClr val="7F6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 sz="1500">
                <a:solidFill>
                  <a:srgbClr val="7F6000"/>
                </a:solidFill>
                <a:latin typeface="Lato"/>
                <a:ea typeface="Lato"/>
                <a:cs typeface="Lato"/>
                <a:sym typeface="Lato"/>
              </a:rPr>
              <a:t>Why bilinear, not a learned upsample?</a:t>
            </a:r>
            <a:endParaRPr b="1" sz="1500">
              <a:solidFill>
                <a:srgbClr val="7F6000"/>
              </a:solidFill>
              <a:latin typeface="Lato"/>
              <a:ea typeface="Lato"/>
              <a:cs typeface="Lato"/>
              <a:sym typeface="Lato"/>
            </a:endParaRPr>
          </a:p>
          <a:p>
            <a:pPr indent="0" lvl="0" marL="0" rtl="0" algn="just">
              <a:spcBef>
                <a:spcPts val="0"/>
              </a:spcBef>
              <a:spcAft>
                <a:spcPts val="0"/>
              </a:spcAft>
              <a:buNone/>
            </a:pPr>
            <a:r>
              <a:rPr lang="en" sz="1500">
                <a:solidFill>
                  <a:srgbClr val="7F6000"/>
                </a:solidFill>
                <a:latin typeface="Lato"/>
                <a:ea typeface="Lato"/>
                <a:cs typeface="Lato"/>
                <a:sym typeface="Lato"/>
              </a:rPr>
              <a:t>The features are already semantically rich from the Transformer; spatial alignment only requires interpolation, not additional learning. Learned upsamplers would add parameters without improving the receptive field.</a:t>
            </a:r>
            <a:endParaRPr sz="1500">
              <a:solidFill>
                <a:srgbClr val="7F6000"/>
              </a:solidFill>
              <a:latin typeface="Lato"/>
              <a:ea typeface="Lato"/>
              <a:cs typeface="Lato"/>
              <a:sym typeface="Lato"/>
            </a:endParaRPr>
          </a:p>
        </p:txBody>
      </p:sp>
      <p:sp>
        <p:nvSpPr>
          <p:cNvPr id="307" name="Google Shape;307;p37"/>
          <p:cNvSpPr txBox="1"/>
          <p:nvPr/>
        </p:nvSpPr>
        <p:spPr>
          <a:xfrm>
            <a:off x="662600" y="2004400"/>
            <a:ext cx="3031500" cy="9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Lato"/>
                <a:ea typeface="Lato"/>
                <a:cs typeface="Lato"/>
                <a:sym typeface="Lato"/>
              </a:rPr>
              <a:t>Bilinear interpolation — no learnable parameters, zero training overhead.</a:t>
            </a:r>
            <a:endParaRPr sz="1800">
              <a:solidFill>
                <a:schemeClr val="dk2"/>
              </a:solidFill>
              <a:latin typeface="Lato"/>
              <a:ea typeface="Lato"/>
              <a:cs typeface="Lato"/>
              <a:sym typeface="Lato"/>
            </a:endParaRPr>
          </a:p>
        </p:txBody>
      </p:sp>
      <p:pic>
        <p:nvPicPr>
          <p:cNvPr id="308" name="Google Shape;308;p37"/>
          <p:cNvPicPr preferRelativeResize="0"/>
          <p:nvPr/>
        </p:nvPicPr>
        <p:blipFill>
          <a:blip r:embed="rId3">
            <a:alphaModFix/>
          </a:blip>
          <a:stretch>
            <a:fillRect/>
          </a:stretch>
        </p:blipFill>
        <p:spPr>
          <a:xfrm>
            <a:off x="1510800" y="1050425"/>
            <a:ext cx="5024200" cy="664250"/>
          </a:xfrm>
          <a:prstGeom prst="rect">
            <a:avLst/>
          </a:prstGeom>
          <a:noFill/>
          <a:ln>
            <a:noFill/>
          </a:ln>
        </p:spPr>
      </p:pic>
      <p:pic>
        <p:nvPicPr>
          <p:cNvPr id="309" name="Google Shape;309;p37"/>
          <p:cNvPicPr preferRelativeResize="0"/>
          <p:nvPr/>
        </p:nvPicPr>
        <p:blipFill>
          <a:blip r:embed="rId4">
            <a:alphaModFix/>
          </a:blip>
          <a:stretch>
            <a:fillRect/>
          </a:stretch>
        </p:blipFill>
        <p:spPr>
          <a:xfrm>
            <a:off x="3895375" y="1749075"/>
            <a:ext cx="4561175" cy="16453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8"/>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Step 3a: Concatenate Multi-Scale Features</a:t>
            </a:r>
            <a:endParaRPr sz="2100">
              <a:solidFill>
                <a:srgbClr val="073763"/>
              </a:solidFill>
            </a:endParaRPr>
          </a:p>
        </p:txBody>
      </p:sp>
      <p:sp>
        <p:nvSpPr>
          <p:cNvPr id="315" name="Google Shape;315;p38"/>
          <p:cNvSpPr txBox="1"/>
          <p:nvPr/>
        </p:nvSpPr>
        <p:spPr>
          <a:xfrm>
            <a:off x="476125" y="3246775"/>
            <a:ext cx="8042400" cy="1341600"/>
          </a:xfrm>
          <a:prstGeom prst="rect">
            <a:avLst/>
          </a:prstGeom>
          <a:solidFill>
            <a:srgbClr val="FFE599"/>
          </a:solidFill>
          <a:ln cap="flat" cmpd="sng" w="38100">
            <a:solidFill>
              <a:srgbClr val="7F6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 sz="1500">
                <a:solidFill>
                  <a:srgbClr val="7F6000"/>
                </a:solidFill>
                <a:latin typeface="Lato"/>
                <a:ea typeface="Lato"/>
                <a:cs typeface="Lato"/>
                <a:sym typeface="Lato"/>
              </a:rPr>
              <a:t>Concatenation is used instead of summation or averaging because it preserves all information from every scale. Summation irreversibly merges fine-grained local detail (from Fˆ</a:t>
            </a:r>
            <a:r>
              <a:rPr b="1" baseline="-25000" lang="en" sz="1500">
                <a:solidFill>
                  <a:srgbClr val="7F6000"/>
                </a:solidFill>
                <a:latin typeface="Lato"/>
                <a:ea typeface="Lato"/>
                <a:cs typeface="Lato"/>
                <a:sym typeface="Lato"/>
              </a:rPr>
              <a:t>1</a:t>
            </a:r>
            <a:r>
              <a:rPr b="1" lang="en" sz="1500">
                <a:solidFill>
                  <a:srgbClr val="7F6000"/>
                </a:solidFill>
                <a:latin typeface="Lato"/>
                <a:ea typeface="Lato"/>
                <a:cs typeface="Lato"/>
                <a:sym typeface="Lato"/>
              </a:rPr>
              <a:t>) with coarse global context (from Fˆ</a:t>
            </a:r>
            <a:r>
              <a:rPr b="1" baseline="-25000" lang="en" sz="1500">
                <a:solidFill>
                  <a:srgbClr val="7F6000"/>
                </a:solidFill>
                <a:latin typeface="Lato"/>
                <a:ea typeface="Lato"/>
                <a:cs typeface="Lato"/>
                <a:sym typeface="Lato"/>
              </a:rPr>
              <a:t>4</a:t>
            </a:r>
            <a:r>
              <a:rPr b="1" lang="en" sz="1500">
                <a:solidFill>
                  <a:srgbClr val="7F6000"/>
                </a:solidFill>
                <a:latin typeface="Lato"/>
                <a:ea typeface="Lato"/>
                <a:cs typeface="Lato"/>
                <a:sym typeface="Lato"/>
              </a:rPr>
              <a:t>), making it impossible for the next layer to separate them. Concatenating lets the subsequent fusion MLP (Step 3b) learn precisely how much to weight each scale at each spatial location.</a:t>
            </a:r>
            <a:endParaRPr b="1" sz="1500">
              <a:solidFill>
                <a:srgbClr val="7F6000"/>
              </a:solidFill>
              <a:latin typeface="Lato"/>
              <a:ea typeface="Lato"/>
              <a:cs typeface="Lato"/>
              <a:sym typeface="Lato"/>
            </a:endParaRPr>
          </a:p>
        </p:txBody>
      </p:sp>
      <p:pic>
        <p:nvPicPr>
          <p:cNvPr id="316" name="Google Shape;316;p38"/>
          <p:cNvPicPr preferRelativeResize="0"/>
          <p:nvPr/>
        </p:nvPicPr>
        <p:blipFill>
          <a:blip r:embed="rId3">
            <a:alphaModFix/>
          </a:blip>
          <a:stretch>
            <a:fillRect/>
          </a:stretch>
        </p:blipFill>
        <p:spPr>
          <a:xfrm>
            <a:off x="496425" y="1210750"/>
            <a:ext cx="8042401" cy="18836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9"/>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Step 3b: Feature Fusion MLP</a:t>
            </a:r>
            <a:endParaRPr sz="2100">
              <a:solidFill>
                <a:srgbClr val="073763"/>
              </a:solidFill>
            </a:endParaRPr>
          </a:p>
        </p:txBody>
      </p:sp>
      <p:sp>
        <p:nvSpPr>
          <p:cNvPr id="322" name="Google Shape;322;p39"/>
          <p:cNvSpPr txBox="1"/>
          <p:nvPr/>
        </p:nvSpPr>
        <p:spPr>
          <a:xfrm>
            <a:off x="629475" y="1855300"/>
            <a:ext cx="4224000" cy="12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073763"/>
                </a:solidFill>
                <a:latin typeface="Lato"/>
                <a:ea typeface="Lato"/>
                <a:cs typeface="Lato"/>
                <a:sym typeface="Lato"/>
              </a:rPr>
              <a:t>Compress 4C concatenated channels back to C  learning a weighted cross-scale combination at each spatial position.</a:t>
            </a:r>
            <a:endParaRPr sz="1800">
              <a:solidFill>
                <a:schemeClr val="dk2"/>
              </a:solidFill>
              <a:latin typeface="Lato"/>
              <a:ea typeface="Lato"/>
              <a:cs typeface="Lato"/>
              <a:sym typeface="Lato"/>
            </a:endParaRPr>
          </a:p>
        </p:txBody>
      </p:sp>
      <p:pic>
        <p:nvPicPr>
          <p:cNvPr id="323" name="Google Shape;323;p39"/>
          <p:cNvPicPr preferRelativeResize="0"/>
          <p:nvPr/>
        </p:nvPicPr>
        <p:blipFill>
          <a:blip r:embed="rId3">
            <a:alphaModFix/>
          </a:blip>
          <a:stretch>
            <a:fillRect/>
          </a:stretch>
        </p:blipFill>
        <p:spPr>
          <a:xfrm>
            <a:off x="1651600" y="1185350"/>
            <a:ext cx="3495675" cy="542925"/>
          </a:xfrm>
          <a:prstGeom prst="rect">
            <a:avLst/>
          </a:prstGeom>
          <a:noFill/>
          <a:ln>
            <a:noFill/>
          </a:ln>
        </p:spPr>
      </p:pic>
      <p:pic>
        <p:nvPicPr>
          <p:cNvPr id="324" name="Google Shape;324;p39"/>
          <p:cNvPicPr preferRelativeResize="0"/>
          <p:nvPr/>
        </p:nvPicPr>
        <p:blipFill>
          <a:blip r:embed="rId4">
            <a:alphaModFix/>
          </a:blip>
          <a:stretch>
            <a:fillRect/>
          </a:stretch>
        </p:blipFill>
        <p:spPr>
          <a:xfrm>
            <a:off x="5208575" y="1964475"/>
            <a:ext cx="2764275" cy="183029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0"/>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Step 4: Predict the Segmentation Mask</a:t>
            </a:r>
            <a:endParaRPr sz="2100">
              <a:solidFill>
                <a:srgbClr val="073763"/>
              </a:solidFill>
            </a:endParaRPr>
          </a:p>
        </p:txBody>
      </p:sp>
      <p:sp>
        <p:nvSpPr>
          <p:cNvPr id="330" name="Google Shape;330;p40"/>
          <p:cNvSpPr txBox="1"/>
          <p:nvPr/>
        </p:nvSpPr>
        <p:spPr>
          <a:xfrm>
            <a:off x="476125" y="3445575"/>
            <a:ext cx="8042400" cy="1142700"/>
          </a:xfrm>
          <a:prstGeom prst="rect">
            <a:avLst/>
          </a:prstGeom>
          <a:solidFill>
            <a:srgbClr val="FFE599"/>
          </a:solidFill>
          <a:ln cap="flat" cmpd="sng" w="38100">
            <a:solidFill>
              <a:srgbClr val="7F6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 sz="1500">
                <a:solidFill>
                  <a:srgbClr val="7F6000"/>
                </a:solidFill>
                <a:latin typeface="Lato"/>
                <a:ea typeface="Lato"/>
                <a:cs typeface="Lato"/>
                <a:sym typeface="Lato"/>
              </a:rPr>
              <a:t>A single linear layer over C-dimensional features suffices because F already contains contextually rich, multi-scale representations built by the encoder and the fusion step. Predicting at H/4 instead of H × W keeps this layer 16× cheaper. The bilinear resize to full resolution at inference is parameter-free.</a:t>
            </a:r>
            <a:endParaRPr b="1" sz="1500">
              <a:solidFill>
                <a:srgbClr val="7F6000"/>
              </a:solidFill>
              <a:latin typeface="Lato"/>
              <a:ea typeface="Lato"/>
              <a:cs typeface="Lato"/>
              <a:sym typeface="Lato"/>
            </a:endParaRPr>
          </a:p>
        </p:txBody>
      </p:sp>
      <p:pic>
        <p:nvPicPr>
          <p:cNvPr id="331" name="Google Shape;331;p40"/>
          <p:cNvPicPr preferRelativeResize="0"/>
          <p:nvPr/>
        </p:nvPicPr>
        <p:blipFill>
          <a:blip r:embed="rId3">
            <a:alphaModFix/>
          </a:blip>
          <a:stretch>
            <a:fillRect/>
          </a:stretch>
        </p:blipFill>
        <p:spPr>
          <a:xfrm>
            <a:off x="541700" y="1177625"/>
            <a:ext cx="5114925" cy="457200"/>
          </a:xfrm>
          <a:prstGeom prst="rect">
            <a:avLst/>
          </a:prstGeom>
          <a:noFill/>
          <a:ln>
            <a:noFill/>
          </a:ln>
        </p:spPr>
      </p:pic>
      <p:pic>
        <p:nvPicPr>
          <p:cNvPr id="332" name="Google Shape;332;p40"/>
          <p:cNvPicPr preferRelativeResize="0"/>
          <p:nvPr/>
        </p:nvPicPr>
        <p:blipFill>
          <a:blip r:embed="rId4">
            <a:alphaModFix/>
          </a:blip>
          <a:stretch>
            <a:fillRect/>
          </a:stretch>
        </p:blipFill>
        <p:spPr>
          <a:xfrm>
            <a:off x="5991225" y="821475"/>
            <a:ext cx="2614400" cy="2333750"/>
          </a:xfrm>
          <a:prstGeom prst="rect">
            <a:avLst/>
          </a:prstGeom>
          <a:noFill/>
          <a:ln>
            <a:noFill/>
          </a:ln>
        </p:spPr>
      </p:pic>
      <p:sp>
        <p:nvSpPr>
          <p:cNvPr id="333" name="Google Shape;333;p40"/>
          <p:cNvSpPr txBox="1"/>
          <p:nvPr/>
        </p:nvSpPr>
        <p:spPr>
          <a:xfrm>
            <a:off x="488675" y="1772475"/>
            <a:ext cx="4986000" cy="132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Lato"/>
                <a:ea typeface="Lato"/>
                <a:cs typeface="Lato"/>
                <a:sym typeface="Lato"/>
              </a:rPr>
              <a:t>•</a:t>
            </a:r>
            <a:r>
              <a:rPr b="1" lang="en" sz="1800">
                <a:solidFill>
                  <a:schemeClr val="dk2"/>
                </a:solidFill>
                <a:latin typeface="Lato"/>
                <a:ea typeface="Lato"/>
                <a:cs typeface="Lato"/>
                <a:sym typeface="Lato"/>
              </a:rPr>
              <a:t>Input:</a:t>
            </a:r>
            <a:r>
              <a:rPr lang="en" sz="1800">
                <a:solidFill>
                  <a:schemeClr val="dk2"/>
                </a:solidFill>
                <a:latin typeface="Lato"/>
                <a:ea typeface="Lato"/>
                <a:cs typeface="Lato"/>
                <a:sym typeface="Lato"/>
              </a:rPr>
              <a:t> C-dimensional feature vector encodes “what semantic content is at this patch” </a:t>
            </a:r>
            <a:endParaRPr sz="1800">
              <a:solidFill>
                <a:schemeClr val="dk2"/>
              </a:solidFill>
              <a:latin typeface="Lato"/>
              <a:ea typeface="Lato"/>
              <a:cs typeface="Lato"/>
              <a:sym typeface="Lato"/>
            </a:endParaRPr>
          </a:p>
          <a:p>
            <a:pPr indent="0" lvl="0" marL="0" rtl="0" algn="l">
              <a:spcBef>
                <a:spcPts val="0"/>
              </a:spcBef>
              <a:spcAft>
                <a:spcPts val="0"/>
              </a:spcAft>
              <a:buNone/>
            </a:pPr>
            <a:r>
              <a:rPr lang="en" sz="1800">
                <a:solidFill>
                  <a:schemeClr val="dk2"/>
                </a:solidFill>
                <a:latin typeface="Lato"/>
                <a:ea typeface="Lato"/>
                <a:cs typeface="Lato"/>
                <a:sym typeface="Lato"/>
              </a:rPr>
              <a:t>• </a:t>
            </a:r>
            <a:r>
              <a:rPr b="1" lang="en" sz="1800">
                <a:solidFill>
                  <a:schemeClr val="dk2"/>
                </a:solidFill>
                <a:latin typeface="Lato"/>
                <a:ea typeface="Lato"/>
                <a:cs typeface="Lato"/>
                <a:sym typeface="Lato"/>
              </a:rPr>
              <a:t>Output:</a:t>
            </a:r>
            <a:r>
              <a:rPr lang="en" sz="1800">
                <a:solidFill>
                  <a:schemeClr val="dk2"/>
                </a:solidFill>
                <a:latin typeface="Lato"/>
                <a:ea typeface="Lato"/>
                <a:cs typeface="Lato"/>
                <a:sym typeface="Lato"/>
              </a:rPr>
              <a:t> N</a:t>
            </a:r>
            <a:r>
              <a:rPr baseline="-25000" lang="en" sz="1800">
                <a:solidFill>
                  <a:schemeClr val="dk2"/>
                </a:solidFill>
                <a:latin typeface="Lato"/>
                <a:ea typeface="Lato"/>
                <a:cs typeface="Lato"/>
                <a:sym typeface="Lato"/>
              </a:rPr>
              <a:t>cls</a:t>
            </a:r>
            <a:r>
              <a:rPr lang="en" sz="1800">
                <a:solidFill>
                  <a:schemeClr val="dk2"/>
                </a:solidFill>
                <a:latin typeface="Lato"/>
                <a:ea typeface="Lato"/>
                <a:cs typeface="Lato"/>
                <a:sym typeface="Lato"/>
              </a:rPr>
              <a:t> logit scores, one per category </a:t>
            </a:r>
            <a:endParaRPr sz="1800">
              <a:solidFill>
                <a:schemeClr val="dk2"/>
              </a:solidFill>
              <a:latin typeface="Lato"/>
              <a:ea typeface="Lato"/>
              <a:cs typeface="Lato"/>
              <a:sym typeface="Lato"/>
            </a:endParaRPr>
          </a:p>
          <a:p>
            <a:pPr indent="0" lvl="0" marL="0" rtl="0" algn="l">
              <a:spcBef>
                <a:spcPts val="0"/>
              </a:spcBef>
              <a:spcAft>
                <a:spcPts val="0"/>
              </a:spcAft>
              <a:buNone/>
            </a:pPr>
            <a:r>
              <a:rPr lang="en" sz="1800">
                <a:solidFill>
                  <a:schemeClr val="dk2"/>
                </a:solidFill>
                <a:latin typeface="Lato"/>
                <a:ea typeface="Lato"/>
                <a:cs typeface="Lato"/>
                <a:sym typeface="Lato"/>
              </a:rPr>
              <a:t>• </a:t>
            </a:r>
            <a:r>
              <a:rPr b="1" lang="en" sz="1800">
                <a:solidFill>
                  <a:schemeClr val="dk2"/>
                </a:solidFill>
                <a:latin typeface="Lato"/>
                <a:ea typeface="Lato"/>
                <a:cs typeface="Lato"/>
                <a:sym typeface="Lato"/>
              </a:rPr>
              <a:t>Prediction: </a:t>
            </a:r>
            <a:r>
              <a:rPr lang="en" sz="1800">
                <a:solidFill>
                  <a:schemeClr val="dk2"/>
                </a:solidFill>
                <a:latin typeface="Lato"/>
                <a:ea typeface="Lato"/>
                <a:cs typeface="Lato"/>
                <a:sym typeface="Lato"/>
              </a:rPr>
              <a:t>yˆ = arg max</a:t>
            </a:r>
            <a:r>
              <a:rPr baseline="-25000" lang="en" sz="1800">
                <a:solidFill>
                  <a:schemeClr val="dk2"/>
                </a:solidFill>
                <a:latin typeface="Lato"/>
                <a:ea typeface="Lato"/>
                <a:cs typeface="Lato"/>
                <a:sym typeface="Lato"/>
              </a:rPr>
              <a:t>k</a:t>
            </a:r>
            <a:r>
              <a:rPr lang="en" sz="1800">
                <a:solidFill>
                  <a:schemeClr val="dk2"/>
                </a:solidFill>
                <a:latin typeface="Lato"/>
                <a:ea typeface="Lato"/>
                <a:cs typeface="Lato"/>
                <a:sym typeface="Lato"/>
              </a:rPr>
              <a:t> M[ ·, ·, k ]</a:t>
            </a:r>
            <a:endParaRPr sz="1800">
              <a:solidFill>
                <a:schemeClr val="dk2"/>
              </a:solidFill>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1"/>
          <p:cNvSpPr txBox="1"/>
          <p:nvPr>
            <p:ph type="title"/>
          </p:nvPr>
        </p:nvSpPr>
        <p:spPr>
          <a:xfrm>
            <a:off x="488525" y="575950"/>
            <a:ext cx="82332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73763"/>
                </a:solidFill>
              </a:rPr>
              <a:t>Why can an MLP decoder work for Transformers but not for CNNs?</a:t>
            </a:r>
            <a:endParaRPr>
              <a:solidFill>
                <a:srgbClr val="073763"/>
              </a:solidFill>
            </a:endParaRPr>
          </a:p>
        </p:txBody>
      </p:sp>
      <p:sp>
        <p:nvSpPr>
          <p:cNvPr id="339" name="Google Shape;339;p41"/>
          <p:cNvSpPr txBox="1"/>
          <p:nvPr>
            <p:ph idx="1" type="body"/>
          </p:nvPr>
        </p:nvSpPr>
        <p:spPr>
          <a:xfrm>
            <a:off x="488467" y="1604050"/>
            <a:ext cx="4025400" cy="3002400"/>
          </a:xfrm>
          <a:prstGeom prst="rect">
            <a:avLst/>
          </a:prstGeom>
          <a:ln cap="flat" cmpd="sng" w="19050">
            <a:solidFill>
              <a:srgbClr val="073763"/>
            </a:solidFill>
            <a:prstDash val="solid"/>
            <a:round/>
            <a:headEnd len="sm" w="sm" type="none"/>
            <a:tailEnd len="sm" w="sm" type="none"/>
          </a:ln>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CNN encoder (e.g. DeepLabv3+) </a:t>
            </a:r>
            <a:endParaRPr b="1"/>
          </a:p>
          <a:p>
            <a:pPr indent="0" lvl="0" marL="0" rtl="0" algn="l">
              <a:spcBef>
                <a:spcPts val="1200"/>
              </a:spcBef>
              <a:spcAft>
                <a:spcPts val="0"/>
              </a:spcAft>
              <a:buNone/>
            </a:pPr>
            <a:r>
              <a:rPr lang="en"/>
              <a:t>• Effective residual Field (ERF) remains small even at Stage 4  (only local neighborhoods )</a:t>
            </a:r>
            <a:endParaRPr/>
          </a:p>
          <a:p>
            <a:pPr indent="0" lvl="0" marL="0" rtl="0" algn="l">
              <a:spcBef>
                <a:spcPts val="1200"/>
              </a:spcBef>
              <a:spcAft>
                <a:spcPts val="0"/>
              </a:spcAft>
              <a:buNone/>
            </a:pPr>
            <a:r>
              <a:rPr lang="en"/>
              <a:t>• Cannot “see” the full image context from features alone </a:t>
            </a:r>
            <a:endParaRPr/>
          </a:p>
          <a:p>
            <a:pPr indent="0" lvl="0" marL="0" rtl="0" algn="l">
              <a:spcBef>
                <a:spcPts val="1200"/>
              </a:spcBef>
              <a:spcAft>
                <a:spcPts val="0"/>
              </a:spcAft>
              <a:buNone/>
            </a:pPr>
            <a:r>
              <a:rPr lang="en"/>
              <a:t>• Decoder must supply global context via ASPP, dilated convolutions, PPM, etc. </a:t>
            </a:r>
            <a:endParaRPr/>
          </a:p>
          <a:p>
            <a:pPr indent="0" lvl="0" marL="0" rtl="0" algn="l">
              <a:spcBef>
                <a:spcPts val="1200"/>
              </a:spcBef>
              <a:spcAft>
                <a:spcPts val="1200"/>
              </a:spcAft>
              <a:buNone/>
            </a:pPr>
            <a:r>
              <a:rPr lang="en"/>
              <a:t>• Complex, heavy decoder is a necessity</a:t>
            </a:r>
            <a:endParaRPr/>
          </a:p>
        </p:txBody>
      </p:sp>
      <p:sp>
        <p:nvSpPr>
          <p:cNvPr id="340" name="Google Shape;340;p41"/>
          <p:cNvSpPr txBox="1"/>
          <p:nvPr>
            <p:ph idx="1" type="body"/>
          </p:nvPr>
        </p:nvSpPr>
        <p:spPr>
          <a:xfrm>
            <a:off x="4696392" y="1604050"/>
            <a:ext cx="4025400" cy="3002400"/>
          </a:xfrm>
          <a:prstGeom prst="rect">
            <a:avLst/>
          </a:prstGeom>
          <a:ln cap="flat" cmpd="sng" w="19050">
            <a:solidFill>
              <a:srgbClr val="073763"/>
            </a:solidFill>
            <a:prstDash val="solid"/>
            <a:round/>
            <a:headEnd len="sm" w="sm" type="none"/>
            <a:tailEnd len="sm" w="sm" type="none"/>
          </a:ln>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en"/>
              <a:t>Transformer encoder (MiT) </a:t>
            </a:r>
            <a:endParaRPr b="1"/>
          </a:p>
          <a:p>
            <a:pPr indent="0" lvl="0" marL="0" rtl="0" algn="l">
              <a:spcBef>
                <a:spcPts val="1200"/>
              </a:spcBef>
              <a:spcAft>
                <a:spcPts val="0"/>
              </a:spcAft>
              <a:buNone/>
            </a:pPr>
            <a:r>
              <a:rPr lang="en"/>
              <a:t>• Stages 1–2: local attention ≈ convolutions (captures fine detail) </a:t>
            </a:r>
            <a:endParaRPr/>
          </a:p>
          <a:p>
            <a:pPr indent="0" lvl="0" marL="0" rtl="0" algn="l">
              <a:spcBef>
                <a:spcPts val="1200"/>
              </a:spcBef>
              <a:spcAft>
                <a:spcPts val="0"/>
              </a:spcAft>
              <a:buNone/>
            </a:pPr>
            <a:r>
              <a:rPr lang="en"/>
              <a:t>• Stage 4: fully non-local attention, ERF spans the entire image </a:t>
            </a:r>
            <a:endParaRPr/>
          </a:p>
          <a:p>
            <a:pPr indent="0" lvl="0" marL="0" rtl="0" algn="l">
              <a:spcBef>
                <a:spcPts val="1200"/>
              </a:spcBef>
              <a:spcAft>
                <a:spcPts val="0"/>
              </a:spcAft>
              <a:buNone/>
            </a:pPr>
            <a:r>
              <a:rPr lang="en"/>
              <a:t>• MLP head adds strong local attention on top of Stage-4 global context </a:t>
            </a:r>
            <a:endParaRPr/>
          </a:p>
          <a:p>
            <a:pPr indent="0" lvl="0" marL="0" rtl="0" algn="l">
              <a:spcBef>
                <a:spcPts val="1200"/>
              </a:spcBef>
              <a:spcAft>
                <a:spcPts val="1200"/>
              </a:spcAft>
              <a:buNone/>
            </a:pPr>
            <a:r>
              <a:rPr lang="en"/>
              <a:t>• Complex decoder is redundant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2"/>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Effective Receptive Field Analysis.</a:t>
            </a:r>
            <a:endParaRPr sz="2100">
              <a:solidFill>
                <a:srgbClr val="073763"/>
              </a:solidFill>
            </a:endParaRPr>
          </a:p>
        </p:txBody>
      </p:sp>
      <p:sp>
        <p:nvSpPr>
          <p:cNvPr id="346" name="Google Shape;346;p42"/>
          <p:cNvSpPr txBox="1"/>
          <p:nvPr/>
        </p:nvSpPr>
        <p:spPr>
          <a:xfrm>
            <a:off x="4373575" y="1118150"/>
            <a:ext cx="4348200" cy="2782800"/>
          </a:xfrm>
          <a:prstGeom prst="rect">
            <a:avLst/>
          </a:prstGeom>
          <a:solidFill>
            <a:srgbClr val="FFE599"/>
          </a:solidFill>
          <a:ln cap="flat" cmpd="sng" w="38100">
            <a:solidFill>
              <a:srgbClr val="7F6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 sz="1500">
                <a:solidFill>
                  <a:srgbClr val="7F6000"/>
                </a:solidFill>
                <a:latin typeface="Lato"/>
                <a:ea typeface="Lato"/>
                <a:cs typeface="Lato"/>
                <a:sym typeface="Lato"/>
              </a:rPr>
              <a:t>• The </a:t>
            </a:r>
            <a:r>
              <a:rPr b="1" lang="en" sz="1500">
                <a:solidFill>
                  <a:srgbClr val="7F6000"/>
                </a:solidFill>
                <a:latin typeface="Lato"/>
                <a:ea typeface="Lato"/>
                <a:cs typeface="Lato"/>
                <a:sym typeface="Lato"/>
              </a:rPr>
              <a:t>ERF</a:t>
            </a:r>
            <a:r>
              <a:rPr lang="en" sz="1500">
                <a:solidFill>
                  <a:srgbClr val="7F6000"/>
                </a:solidFill>
                <a:latin typeface="Lato"/>
                <a:ea typeface="Lato"/>
                <a:cs typeface="Lato"/>
                <a:sym typeface="Lato"/>
              </a:rPr>
              <a:t> of </a:t>
            </a:r>
            <a:r>
              <a:rPr b="1" lang="en" sz="1500">
                <a:solidFill>
                  <a:srgbClr val="7F6000"/>
                </a:solidFill>
                <a:latin typeface="Lato"/>
                <a:ea typeface="Lato"/>
                <a:cs typeface="Lato"/>
                <a:sym typeface="Lato"/>
              </a:rPr>
              <a:t>DeepLabv3+</a:t>
            </a:r>
            <a:r>
              <a:rPr lang="en" sz="1500">
                <a:solidFill>
                  <a:srgbClr val="7F6000"/>
                </a:solidFill>
                <a:latin typeface="Lato"/>
                <a:ea typeface="Lato"/>
                <a:cs typeface="Lato"/>
                <a:sym typeface="Lato"/>
              </a:rPr>
              <a:t> is relatively small even at Stage-4, the deepest stage. </a:t>
            </a:r>
            <a:endParaRPr sz="1500">
              <a:solidFill>
                <a:srgbClr val="7F6000"/>
              </a:solidFill>
              <a:latin typeface="Lato"/>
              <a:ea typeface="Lato"/>
              <a:cs typeface="Lato"/>
              <a:sym typeface="Lato"/>
            </a:endParaRPr>
          </a:p>
          <a:p>
            <a:pPr indent="0" lvl="0" marL="0" rtl="0" algn="just">
              <a:spcBef>
                <a:spcPts val="0"/>
              </a:spcBef>
              <a:spcAft>
                <a:spcPts val="0"/>
              </a:spcAft>
              <a:buNone/>
            </a:pPr>
            <a:r>
              <a:rPr lang="en" sz="1500">
                <a:solidFill>
                  <a:srgbClr val="7F6000"/>
                </a:solidFill>
                <a:latin typeface="Lato"/>
                <a:ea typeface="Lato"/>
                <a:cs typeface="Lato"/>
                <a:sym typeface="Lato"/>
              </a:rPr>
              <a:t>• SegFormer’s encoder naturally produces local attentions which resemble convolutions at lower stages, while able to output highly non-local attentions that effectively capture contexts at Stage-4. </a:t>
            </a:r>
            <a:endParaRPr sz="1500">
              <a:solidFill>
                <a:srgbClr val="7F6000"/>
              </a:solidFill>
              <a:latin typeface="Lato"/>
              <a:ea typeface="Lato"/>
              <a:cs typeface="Lato"/>
              <a:sym typeface="Lato"/>
            </a:endParaRPr>
          </a:p>
          <a:p>
            <a:pPr indent="0" lvl="0" marL="0" rtl="0" algn="just">
              <a:spcBef>
                <a:spcPts val="0"/>
              </a:spcBef>
              <a:spcAft>
                <a:spcPts val="0"/>
              </a:spcAft>
              <a:buNone/>
            </a:pPr>
            <a:r>
              <a:rPr lang="en" sz="1500">
                <a:solidFill>
                  <a:srgbClr val="7F6000"/>
                </a:solidFill>
                <a:latin typeface="Lato"/>
                <a:ea typeface="Lato"/>
                <a:cs typeface="Lato"/>
                <a:sym typeface="Lato"/>
              </a:rPr>
              <a:t>• As shown with the zoom-in patches in Figure 3, the ERF of the MLP head (blue box) differs from Stage-4 (red box) with a significant stronger local attention besides the non-local attention.</a:t>
            </a:r>
            <a:endParaRPr sz="1500">
              <a:solidFill>
                <a:srgbClr val="7F6000"/>
              </a:solidFill>
              <a:latin typeface="Lato"/>
              <a:ea typeface="Lato"/>
              <a:cs typeface="Lato"/>
              <a:sym typeface="Lato"/>
            </a:endParaRPr>
          </a:p>
        </p:txBody>
      </p:sp>
      <p:pic>
        <p:nvPicPr>
          <p:cNvPr id="347" name="Google Shape;347;p42"/>
          <p:cNvPicPr preferRelativeResize="0"/>
          <p:nvPr/>
        </p:nvPicPr>
        <p:blipFill>
          <a:blip r:embed="rId3">
            <a:alphaModFix/>
          </a:blip>
          <a:stretch>
            <a:fillRect/>
          </a:stretch>
        </p:blipFill>
        <p:spPr>
          <a:xfrm>
            <a:off x="152400" y="1210750"/>
            <a:ext cx="4068775" cy="228550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3"/>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Same MLP decoder, different encoders (Table 1d, ADE20K)</a:t>
            </a:r>
            <a:endParaRPr sz="2100">
              <a:solidFill>
                <a:srgbClr val="073763"/>
              </a:solidFill>
            </a:endParaRPr>
          </a:p>
        </p:txBody>
      </p:sp>
      <p:sp>
        <p:nvSpPr>
          <p:cNvPr id="353" name="Google Shape;353;p43"/>
          <p:cNvSpPr txBox="1"/>
          <p:nvPr/>
        </p:nvSpPr>
        <p:spPr>
          <a:xfrm>
            <a:off x="4316100" y="1553038"/>
            <a:ext cx="4348200" cy="2327400"/>
          </a:xfrm>
          <a:prstGeom prst="rect">
            <a:avLst/>
          </a:prstGeom>
          <a:solidFill>
            <a:srgbClr val="FFE599"/>
          </a:solidFill>
          <a:ln cap="flat" cmpd="sng" w="38100">
            <a:solidFill>
              <a:srgbClr val="7F6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 sz="1500">
                <a:solidFill>
                  <a:srgbClr val="7F6000"/>
                </a:solidFill>
                <a:latin typeface="Lato"/>
                <a:ea typeface="Lato"/>
                <a:cs typeface="Lato"/>
                <a:sym typeface="Lato"/>
              </a:rPr>
              <a:t>The MLP decoder is not independently powerful, it derives its strength from the Transformer encoder. Self-attention provides a large ERF that CNNs can only approximate through expensive hand-crafted modules. Using Stage 4 alone is insufficient </a:t>
            </a:r>
            <a:r>
              <a:rPr b="1" lang="en" sz="1500">
                <a:solidFill>
                  <a:srgbClr val="7F6000"/>
                </a:solidFill>
                <a:latin typeface="Lato"/>
                <a:ea typeface="Lato"/>
                <a:cs typeface="Lato"/>
                <a:sym typeface="Lato"/>
              </a:rPr>
              <a:t>(43.1% vs 45.4%)</a:t>
            </a:r>
            <a:r>
              <a:rPr lang="en" sz="1500">
                <a:solidFill>
                  <a:srgbClr val="7F6000"/>
                </a:solidFill>
                <a:latin typeface="Lato"/>
                <a:ea typeface="Lato"/>
                <a:cs typeface="Lato"/>
                <a:sym typeface="Lato"/>
              </a:rPr>
              <a:t>: the multi-stage combination blending local (Stages 1–2) and global (Stage 4) attention is what makes the MLP decoder effective.</a:t>
            </a:r>
            <a:endParaRPr sz="1500">
              <a:solidFill>
                <a:srgbClr val="7F6000"/>
              </a:solidFill>
              <a:latin typeface="Lato"/>
              <a:ea typeface="Lato"/>
              <a:cs typeface="Lato"/>
              <a:sym typeface="Lato"/>
            </a:endParaRPr>
          </a:p>
        </p:txBody>
      </p:sp>
      <p:pic>
        <p:nvPicPr>
          <p:cNvPr id="354" name="Google Shape;354;p43"/>
          <p:cNvPicPr preferRelativeResize="0"/>
          <p:nvPr/>
        </p:nvPicPr>
        <p:blipFill>
          <a:blip r:embed="rId3">
            <a:alphaModFix/>
          </a:blip>
          <a:stretch>
            <a:fillRect/>
          </a:stretch>
        </p:blipFill>
        <p:spPr>
          <a:xfrm>
            <a:off x="349475" y="1448875"/>
            <a:ext cx="3624475" cy="253572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3763"/>
        </a:solidFill>
      </p:bgPr>
    </p:bg>
    <p:spTree>
      <p:nvGrpSpPr>
        <p:cNvPr id="358" name="Shape 358"/>
        <p:cNvGrpSpPr/>
        <p:nvPr/>
      </p:nvGrpSpPr>
      <p:grpSpPr>
        <a:xfrm>
          <a:off x="0" y="0"/>
          <a:ext cx="0" cy="0"/>
          <a:chOff x="0" y="0"/>
          <a:chExt cx="0" cy="0"/>
        </a:xfrm>
      </p:grpSpPr>
      <p:sp>
        <p:nvSpPr>
          <p:cNvPr id="359" name="Google Shape;359;p44"/>
          <p:cNvSpPr txBox="1"/>
          <p:nvPr>
            <p:ph idx="4294967295" type="title"/>
          </p:nvPr>
        </p:nvSpPr>
        <p:spPr>
          <a:xfrm>
            <a:off x="961225" y="1916575"/>
            <a:ext cx="7068000" cy="838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200">
                <a:solidFill>
                  <a:schemeClr val="lt1"/>
                </a:solidFill>
              </a:rPr>
              <a:t>Experiments</a:t>
            </a:r>
            <a:r>
              <a:rPr lang="en" sz="3200">
                <a:solidFill>
                  <a:schemeClr val="lt1"/>
                </a:solidFill>
              </a:rPr>
              <a:t> &amp; Results</a:t>
            </a:r>
            <a:endParaRPr sz="3200">
              <a:solidFill>
                <a:schemeClr val="lt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5"/>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Experimental Setup</a:t>
            </a:r>
            <a:endParaRPr sz="2100">
              <a:solidFill>
                <a:srgbClr val="073763"/>
              </a:solidFill>
            </a:endParaRPr>
          </a:p>
        </p:txBody>
      </p:sp>
      <p:pic>
        <p:nvPicPr>
          <p:cNvPr id="365" name="Google Shape;365;p45"/>
          <p:cNvPicPr preferRelativeResize="0"/>
          <p:nvPr/>
        </p:nvPicPr>
        <p:blipFill>
          <a:blip r:embed="rId3">
            <a:alphaModFix/>
          </a:blip>
          <a:stretch>
            <a:fillRect/>
          </a:stretch>
        </p:blipFill>
        <p:spPr>
          <a:xfrm>
            <a:off x="152400" y="1210750"/>
            <a:ext cx="8839201" cy="269319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6"/>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Model Scaling: B0 to B5</a:t>
            </a:r>
            <a:endParaRPr sz="2100">
              <a:solidFill>
                <a:srgbClr val="073763"/>
              </a:solidFill>
            </a:endParaRPr>
          </a:p>
        </p:txBody>
      </p:sp>
      <p:sp>
        <p:nvSpPr>
          <p:cNvPr id="371" name="Google Shape;371;p46"/>
          <p:cNvSpPr txBox="1"/>
          <p:nvPr/>
        </p:nvSpPr>
        <p:spPr>
          <a:xfrm>
            <a:off x="318775" y="3888200"/>
            <a:ext cx="8357100" cy="799800"/>
          </a:xfrm>
          <a:prstGeom prst="rect">
            <a:avLst/>
          </a:prstGeom>
          <a:solidFill>
            <a:srgbClr val="FFE599"/>
          </a:solidFill>
          <a:ln cap="flat" cmpd="sng" w="38100">
            <a:solidFill>
              <a:srgbClr val="7F6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Clr>
                <a:schemeClr val="dk2"/>
              </a:buClr>
              <a:buSzPts val="1100"/>
              <a:buFont typeface="Arial"/>
              <a:buNone/>
            </a:pPr>
            <a:r>
              <a:rPr lang="en" sz="1500">
                <a:solidFill>
                  <a:srgbClr val="7F6000"/>
                </a:solidFill>
                <a:latin typeface="Lato"/>
                <a:ea typeface="Lato"/>
                <a:cs typeface="Lato"/>
                <a:sym typeface="Lato"/>
              </a:rPr>
              <a:t>The decoder stays fixed at 3.3M parameters from B2 to B5, only ≈4% of the total model  while</a:t>
            </a:r>
            <a:endParaRPr sz="1500">
              <a:solidFill>
                <a:srgbClr val="7F6000"/>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7F6000"/>
                </a:solidFill>
                <a:latin typeface="Lato"/>
                <a:ea typeface="Lato"/>
                <a:cs typeface="Lato"/>
                <a:sym typeface="Lato"/>
              </a:rPr>
              <a:t>accuracy scales consistently with encoder size. This confirms that the encoder, not the decoder, drives performance.</a:t>
            </a:r>
            <a:endParaRPr sz="1500">
              <a:solidFill>
                <a:srgbClr val="7F6000"/>
              </a:solidFill>
              <a:latin typeface="Lato"/>
              <a:ea typeface="Lato"/>
              <a:cs typeface="Lato"/>
              <a:sym typeface="Lato"/>
            </a:endParaRPr>
          </a:p>
          <a:p>
            <a:pPr indent="0" lvl="0" marL="0" rtl="0" algn="just">
              <a:spcBef>
                <a:spcPts val="0"/>
              </a:spcBef>
              <a:spcAft>
                <a:spcPts val="0"/>
              </a:spcAft>
              <a:buNone/>
            </a:pPr>
            <a:r>
              <a:t/>
            </a:r>
            <a:endParaRPr sz="1500">
              <a:solidFill>
                <a:srgbClr val="7F6000"/>
              </a:solidFill>
              <a:latin typeface="Lato"/>
              <a:ea typeface="Lato"/>
              <a:cs typeface="Lato"/>
              <a:sym typeface="Lato"/>
            </a:endParaRPr>
          </a:p>
        </p:txBody>
      </p:sp>
      <p:pic>
        <p:nvPicPr>
          <p:cNvPr id="372" name="Google Shape;372;p46"/>
          <p:cNvPicPr preferRelativeResize="0"/>
          <p:nvPr/>
        </p:nvPicPr>
        <p:blipFill>
          <a:blip r:embed="rId3">
            <a:alphaModFix/>
          </a:blip>
          <a:stretch>
            <a:fillRect/>
          </a:stretch>
        </p:blipFill>
        <p:spPr>
          <a:xfrm>
            <a:off x="1427925" y="1058350"/>
            <a:ext cx="5686824" cy="27884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7"/>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Ablation Studies: Mix-FFN vs. Positional Encoding</a:t>
            </a:r>
            <a:endParaRPr sz="2100">
              <a:solidFill>
                <a:srgbClr val="073763"/>
              </a:solidFill>
            </a:endParaRPr>
          </a:p>
        </p:txBody>
      </p:sp>
      <p:pic>
        <p:nvPicPr>
          <p:cNvPr id="378" name="Google Shape;378;p47"/>
          <p:cNvPicPr preferRelativeResize="0"/>
          <p:nvPr/>
        </p:nvPicPr>
        <p:blipFill>
          <a:blip r:embed="rId3">
            <a:alphaModFix/>
          </a:blip>
          <a:stretch>
            <a:fillRect/>
          </a:stretch>
        </p:blipFill>
        <p:spPr>
          <a:xfrm>
            <a:off x="355700" y="1343250"/>
            <a:ext cx="4100350" cy="2653425"/>
          </a:xfrm>
          <a:prstGeom prst="rect">
            <a:avLst/>
          </a:prstGeom>
          <a:noFill/>
          <a:ln>
            <a:noFill/>
          </a:ln>
        </p:spPr>
      </p:pic>
      <p:sp>
        <p:nvSpPr>
          <p:cNvPr id="379" name="Google Shape;379;p47"/>
          <p:cNvSpPr txBox="1"/>
          <p:nvPr/>
        </p:nvSpPr>
        <p:spPr>
          <a:xfrm>
            <a:off x="4878500" y="1629525"/>
            <a:ext cx="4000800" cy="2236200"/>
          </a:xfrm>
          <a:prstGeom prst="rect">
            <a:avLst/>
          </a:prstGeom>
          <a:solidFill>
            <a:srgbClr val="FFE599"/>
          </a:solidFill>
          <a:ln cap="flat" cmpd="sng" w="38100">
            <a:solidFill>
              <a:srgbClr val="7F6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Clr>
                <a:schemeClr val="dk2"/>
              </a:buClr>
              <a:buSzPts val="1100"/>
              <a:buFont typeface="Arial"/>
              <a:buNone/>
            </a:pPr>
            <a:r>
              <a:rPr b="1" lang="en" sz="1500">
                <a:solidFill>
                  <a:srgbClr val="7F6000"/>
                </a:solidFill>
                <a:latin typeface="Lato"/>
                <a:ea typeface="Lato"/>
                <a:cs typeface="Lato"/>
                <a:sym typeface="Lato"/>
              </a:rPr>
              <a:t>Positional encoding</a:t>
            </a:r>
            <a:r>
              <a:rPr lang="en" sz="1500">
                <a:solidFill>
                  <a:srgbClr val="7F6000"/>
                </a:solidFill>
                <a:latin typeface="Lato"/>
                <a:ea typeface="Lato"/>
                <a:cs typeface="Lato"/>
                <a:sym typeface="Lato"/>
              </a:rPr>
              <a:t> is tied to the training resolution. When the test resolution differs, it</a:t>
            </a:r>
            <a:endParaRPr sz="1500">
              <a:solidFill>
                <a:srgbClr val="7F6000"/>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7F6000"/>
                </a:solidFill>
                <a:latin typeface="Lato"/>
                <a:ea typeface="Lato"/>
                <a:cs typeface="Lato"/>
                <a:sym typeface="Lato"/>
              </a:rPr>
              <a:t>must be interpolated, causing a 3.3% accuracy</a:t>
            </a:r>
            <a:endParaRPr sz="1500">
              <a:solidFill>
                <a:srgbClr val="7F6000"/>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7F6000"/>
                </a:solidFill>
                <a:latin typeface="Lato"/>
                <a:ea typeface="Lato"/>
                <a:cs typeface="Lato"/>
                <a:sym typeface="Lato"/>
              </a:rPr>
              <a:t>drop. </a:t>
            </a:r>
            <a:r>
              <a:rPr b="1" lang="en" sz="1500">
                <a:solidFill>
                  <a:srgbClr val="7F6000"/>
                </a:solidFill>
                <a:latin typeface="Lato"/>
                <a:ea typeface="Lato"/>
                <a:cs typeface="Lato"/>
                <a:sym typeface="Lato"/>
              </a:rPr>
              <a:t>Mix-FFN</a:t>
            </a:r>
            <a:r>
              <a:rPr lang="en" sz="1500">
                <a:solidFill>
                  <a:srgbClr val="7F6000"/>
                </a:solidFill>
                <a:latin typeface="Lato"/>
                <a:ea typeface="Lato"/>
                <a:cs typeface="Lato"/>
                <a:sym typeface="Lato"/>
              </a:rPr>
              <a:t> — a </a:t>
            </a:r>
            <a:r>
              <a:rPr b="1" lang="en" sz="1500">
                <a:solidFill>
                  <a:srgbClr val="7F6000"/>
                </a:solidFill>
                <a:latin typeface="Lato"/>
                <a:ea typeface="Lato"/>
                <a:cs typeface="Lato"/>
                <a:sym typeface="Lato"/>
              </a:rPr>
              <a:t>3×3 depth-wise convolution</a:t>
            </a:r>
            <a:r>
              <a:rPr lang="en" sz="1500">
                <a:solidFill>
                  <a:srgbClr val="7F6000"/>
                </a:solidFill>
                <a:latin typeface="Lato"/>
                <a:ea typeface="Lato"/>
                <a:cs typeface="Lato"/>
                <a:sym typeface="Lato"/>
              </a:rPr>
              <a:t> inside the FFN  implicitly encodes position through </a:t>
            </a:r>
            <a:r>
              <a:rPr b="1" lang="en" sz="1500">
                <a:solidFill>
                  <a:srgbClr val="7F6000"/>
                </a:solidFill>
                <a:latin typeface="Lato"/>
                <a:ea typeface="Lato"/>
                <a:cs typeface="Lato"/>
                <a:sym typeface="Lato"/>
              </a:rPr>
              <a:t>zero-padding</a:t>
            </a:r>
            <a:r>
              <a:rPr lang="en" sz="1500">
                <a:solidFill>
                  <a:srgbClr val="7F6000"/>
                </a:solidFill>
                <a:latin typeface="Lato"/>
                <a:ea typeface="Lato"/>
                <a:cs typeface="Lato"/>
                <a:sym typeface="Lato"/>
              </a:rPr>
              <a:t>, without any </a:t>
            </a:r>
            <a:r>
              <a:rPr b="1" lang="en" sz="1500">
                <a:solidFill>
                  <a:srgbClr val="7F6000"/>
                </a:solidFill>
                <a:latin typeface="Lato"/>
                <a:ea typeface="Lato"/>
                <a:cs typeface="Lato"/>
                <a:sym typeface="Lato"/>
              </a:rPr>
              <a:t>fixed-resolution constraint</a:t>
            </a:r>
            <a:r>
              <a:rPr lang="en" sz="1500">
                <a:solidFill>
                  <a:srgbClr val="7F6000"/>
                </a:solidFill>
                <a:latin typeface="Lato"/>
                <a:ea typeface="Lato"/>
                <a:cs typeface="Lato"/>
                <a:sym typeface="Lato"/>
              </a:rPr>
              <a:t>. The drop shrinks to just 0.7%, and absolute accuracy is higher at both resolutions.</a:t>
            </a:r>
            <a:endParaRPr sz="1500">
              <a:solidFill>
                <a:srgbClr val="7F6000"/>
              </a:solidFill>
              <a:latin typeface="Lato"/>
              <a:ea typeface="Lato"/>
              <a:cs typeface="Lato"/>
              <a:sym typeface="Lato"/>
            </a:endParaRPr>
          </a:p>
          <a:p>
            <a:pPr indent="0" lvl="0" marL="0" rtl="0" algn="just">
              <a:spcBef>
                <a:spcPts val="0"/>
              </a:spcBef>
              <a:spcAft>
                <a:spcPts val="0"/>
              </a:spcAft>
              <a:buNone/>
            </a:pPr>
            <a:r>
              <a:t/>
            </a:r>
            <a:endParaRPr sz="1500">
              <a:solidFill>
                <a:srgbClr val="7F6000"/>
              </a:solidFill>
              <a:latin typeface="Lato"/>
              <a:ea typeface="Lato"/>
              <a:cs typeface="Lato"/>
              <a:sym typeface="La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8"/>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Decoder Architecture Comparison</a:t>
            </a:r>
            <a:endParaRPr sz="2100">
              <a:solidFill>
                <a:srgbClr val="073763"/>
              </a:solidFill>
            </a:endParaRPr>
          </a:p>
        </p:txBody>
      </p:sp>
      <p:sp>
        <p:nvSpPr>
          <p:cNvPr id="385" name="Google Shape;385;p48"/>
          <p:cNvSpPr txBox="1"/>
          <p:nvPr/>
        </p:nvSpPr>
        <p:spPr>
          <a:xfrm>
            <a:off x="4886750" y="1118150"/>
            <a:ext cx="3834900" cy="2327400"/>
          </a:xfrm>
          <a:prstGeom prst="rect">
            <a:avLst/>
          </a:prstGeom>
          <a:solidFill>
            <a:srgbClr val="FFE599"/>
          </a:solidFill>
          <a:ln cap="flat" cmpd="sng" w="38100">
            <a:solidFill>
              <a:srgbClr val="7F6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Clr>
                <a:schemeClr val="dk2"/>
              </a:buClr>
              <a:buSzPts val="1100"/>
              <a:buFont typeface="Arial"/>
              <a:buNone/>
            </a:pPr>
            <a:r>
              <a:rPr lang="en" sz="1500">
                <a:solidFill>
                  <a:srgbClr val="7F6000"/>
                </a:solidFill>
                <a:latin typeface="Lato"/>
                <a:ea typeface="Lato"/>
                <a:cs typeface="Lato"/>
                <a:sym typeface="Lato"/>
              </a:rPr>
              <a:t>The MLP decoder matches UperNet’s accuracy at 9× fewer parameters and 5× fewer FLOPs, running 1.5× faster. The MLP decoder underperforms on Swin-T (43.4% vs. 44.5%) because Swin’s windowed</a:t>
            </a:r>
            <a:endParaRPr sz="1500">
              <a:solidFill>
                <a:srgbClr val="7F6000"/>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lang="en" sz="1500">
                <a:solidFill>
                  <a:srgbClr val="7F6000"/>
                </a:solidFill>
                <a:latin typeface="Lato"/>
                <a:ea typeface="Lato"/>
                <a:cs typeface="Lato"/>
                <a:sym typeface="Lato"/>
              </a:rPr>
              <a:t>attention limits the ERF — confirming the MLP decoder only reaches its potential with a Transformer that provides truly global attention.</a:t>
            </a:r>
            <a:endParaRPr sz="1500">
              <a:solidFill>
                <a:srgbClr val="7F6000"/>
              </a:solidFill>
              <a:latin typeface="Lato"/>
              <a:ea typeface="Lato"/>
              <a:cs typeface="Lato"/>
              <a:sym typeface="Lato"/>
            </a:endParaRPr>
          </a:p>
          <a:p>
            <a:pPr indent="0" lvl="0" marL="0" rtl="0" algn="just">
              <a:spcBef>
                <a:spcPts val="0"/>
              </a:spcBef>
              <a:spcAft>
                <a:spcPts val="0"/>
              </a:spcAft>
              <a:buNone/>
            </a:pPr>
            <a:r>
              <a:t/>
            </a:r>
            <a:endParaRPr sz="1500">
              <a:solidFill>
                <a:srgbClr val="7F6000"/>
              </a:solidFill>
              <a:latin typeface="Lato"/>
              <a:ea typeface="Lato"/>
              <a:cs typeface="Lato"/>
              <a:sym typeface="Lato"/>
            </a:endParaRPr>
          </a:p>
        </p:txBody>
      </p:sp>
      <p:pic>
        <p:nvPicPr>
          <p:cNvPr id="386" name="Google Shape;386;p48"/>
          <p:cNvPicPr preferRelativeResize="0"/>
          <p:nvPr/>
        </p:nvPicPr>
        <p:blipFill>
          <a:blip r:embed="rId3">
            <a:alphaModFix/>
          </a:blip>
          <a:stretch>
            <a:fillRect/>
          </a:stretch>
        </p:blipFill>
        <p:spPr>
          <a:xfrm>
            <a:off x="152400" y="1210750"/>
            <a:ext cx="4505325" cy="29636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9"/>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State-of-the-Art Comparison</a:t>
            </a:r>
            <a:endParaRPr sz="2100">
              <a:solidFill>
                <a:srgbClr val="073763"/>
              </a:solidFill>
            </a:endParaRPr>
          </a:p>
        </p:txBody>
      </p:sp>
      <p:sp>
        <p:nvSpPr>
          <p:cNvPr id="392" name="Google Shape;392;p49"/>
          <p:cNvSpPr txBox="1"/>
          <p:nvPr/>
        </p:nvSpPr>
        <p:spPr>
          <a:xfrm>
            <a:off x="6037975" y="1408025"/>
            <a:ext cx="2683800" cy="2716800"/>
          </a:xfrm>
          <a:prstGeom prst="rect">
            <a:avLst/>
          </a:prstGeom>
          <a:solidFill>
            <a:srgbClr val="FFE599"/>
          </a:solidFill>
          <a:ln cap="flat" cmpd="sng" w="38100">
            <a:solidFill>
              <a:srgbClr val="7F6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 sz="1500">
                <a:solidFill>
                  <a:srgbClr val="7F6000"/>
                </a:solidFill>
                <a:latin typeface="Lato"/>
                <a:ea typeface="Lato"/>
                <a:cs typeface="Lato"/>
                <a:sym typeface="Lato"/>
              </a:rPr>
              <a:t>SegFormer-B0</a:t>
            </a:r>
            <a:r>
              <a:rPr lang="en" sz="1500">
                <a:solidFill>
                  <a:srgbClr val="7F6000"/>
                </a:solidFill>
                <a:latin typeface="Lato"/>
                <a:ea typeface="Lato"/>
                <a:cs typeface="Lato"/>
                <a:sym typeface="Lato"/>
              </a:rPr>
              <a:t> outperforms all real-time methods despite being 4× smaller than the next lightest competitor.</a:t>
            </a:r>
            <a:endParaRPr sz="1500">
              <a:solidFill>
                <a:srgbClr val="7F6000"/>
              </a:solidFill>
              <a:latin typeface="Lato"/>
              <a:ea typeface="Lato"/>
              <a:cs typeface="Lato"/>
              <a:sym typeface="Lato"/>
            </a:endParaRPr>
          </a:p>
          <a:p>
            <a:pPr indent="0" lvl="0" marL="0" rtl="0" algn="just">
              <a:spcBef>
                <a:spcPts val="0"/>
              </a:spcBef>
              <a:spcAft>
                <a:spcPts val="0"/>
              </a:spcAft>
              <a:buClr>
                <a:schemeClr val="dk2"/>
              </a:buClr>
              <a:buSzPts val="1100"/>
              <a:buFont typeface="Arial"/>
              <a:buNone/>
            </a:pPr>
            <a:r>
              <a:rPr b="1" lang="en" sz="1500">
                <a:solidFill>
                  <a:srgbClr val="7F6000"/>
                </a:solidFill>
                <a:latin typeface="Lato"/>
                <a:ea typeface="Lato"/>
                <a:cs typeface="Lato"/>
                <a:sym typeface="Lato"/>
              </a:rPr>
              <a:t>SegFormer-B5</a:t>
            </a:r>
            <a:r>
              <a:rPr lang="en" sz="1500">
                <a:solidFill>
                  <a:srgbClr val="7F6000"/>
                </a:solidFill>
                <a:latin typeface="Lato"/>
                <a:ea typeface="Lato"/>
                <a:cs typeface="Lato"/>
                <a:sym typeface="Lato"/>
              </a:rPr>
              <a:t> surpasses </a:t>
            </a:r>
            <a:r>
              <a:rPr b="1" lang="en" sz="1500">
                <a:solidFill>
                  <a:srgbClr val="7F6000"/>
                </a:solidFill>
                <a:latin typeface="Lato"/>
                <a:ea typeface="Lato"/>
                <a:cs typeface="Lato"/>
                <a:sym typeface="Lato"/>
              </a:rPr>
              <a:t>SETR</a:t>
            </a:r>
            <a:r>
              <a:rPr lang="en" sz="1500">
                <a:solidFill>
                  <a:srgbClr val="7F6000"/>
                </a:solidFill>
                <a:latin typeface="Lato"/>
                <a:ea typeface="Lato"/>
                <a:cs typeface="Lato"/>
                <a:sym typeface="Lato"/>
              </a:rPr>
              <a:t> by </a:t>
            </a:r>
            <a:r>
              <a:rPr b="1" lang="en" sz="1500">
                <a:solidFill>
                  <a:srgbClr val="7F6000"/>
                </a:solidFill>
                <a:latin typeface="Lato"/>
                <a:ea typeface="Lato"/>
                <a:cs typeface="Lato"/>
                <a:sym typeface="Lato"/>
              </a:rPr>
              <a:t>+1.6%</a:t>
            </a:r>
            <a:r>
              <a:rPr lang="en" sz="1500">
                <a:solidFill>
                  <a:srgbClr val="7F6000"/>
                </a:solidFill>
                <a:latin typeface="Lato"/>
                <a:ea typeface="Lato"/>
                <a:cs typeface="Lato"/>
                <a:sym typeface="Lato"/>
              </a:rPr>
              <a:t> mIoU on </a:t>
            </a:r>
            <a:r>
              <a:rPr b="1" lang="en" sz="1500">
                <a:solidFill>
                  <a:srgbClr val="7F6000"/>
                </a:solidFill>
                <a:latin typeface="Lato"/>
                <a:ea typeface="Lato"/>
                <a:cs typeface="Lato"/>
                <a:sym typeface="Lato"/>
              </a:rPr>
              <a:t>ADE20K</a:t>
            </a:r>
            <a:r>
              <a:rPr lang="en" sz="1500">
                <a:solidFill>
                  <a:srgbClr val="7F6000"/>
                </a:solidFill>
                <a:latin typeface="Lato"/>
                <a:ea typeface="Lato"/>
                <a:cs typeface="Lato"/>
                <a:sym typeface="Lato"/>
              </a:rPr>
              <a:t> while using 4× fewer parameters and running 5× faster, using only </a:t>
            </a:r>
            <a:r>
              <a:rPr b="1" lang="en" sz="1500">
                <a:solidFill>
                  <a:srgbClr val="7F6000"/>
                </a:solidFill>
                <a:latin typeface="Lato"/>
                <a:ea typeface="Lato"/>
                <a:cs typeface="Lato"/>
                <a:sym typeface="Lato"/>
              </a:rPr>
              <a:t>ImageNet-1K</a:t>
            </a:r>
            <a:r>
              <a:rPr lang="en" sz="1500">
                <a:solidFill>
                  <a:srgbClr val="7F6000"/>
                </a:solidFill>
                <a:latin typeface="Lato"/>
                <a:ea typeface="Lato"/>
                <a:cs typeface="Lato"/>
                <a:sym typeface="Lato"/>
              </a:rPr>
              <a:t> </a:t>
            </a:r>
            <a:r>
              <a:rPr lang="en" sz="1500">
                <a:solidFill>
                  <a:srgbClr val="7F6000"/>
                </a:solidFill>
                <a:latin typeface="Lato"/>
                <a:ea typeface="Lato"/>
                <a:cs typeface="Lato"/>
                <a:sym typeface="Lato"/>
              </a:rPr>
              <a:t>pre training</a:t>
            </a:r>
            <a:r>
              <a:rPr lang="en" sz="1500">
                <a:solidFill>
                  <a:srgbClr val="7F6000"/>
                </a:solidFill>
                <a:latin typeface="Lato"/>
                <a:ea typeface="Lato"/>
                <a:cs typeface="Lato"/>
                <a:sym typeface="Lato"/>
              </a:rPr>
              <a:t> versus SETR’s ImageNet-22K.</a:t>
            </a:r>
            <a:endParaRPr sz="1500">
              <a:solidFill>
                <a:srgbClr val="7F6000"/>
              </a:solidFill>
              <a:latin typeface="Lato"/>
              <a:ea typeface="Lato"/>
              <a:cs typeface="Lato"/>
              <a:sym typeface="Lato"/>
            </a:endParaRPr>
          </a:p>
          <a:p>
            <a:pPr indent="0" lvl="0" marL="0" rtl="0" algn="just">
              <a:spcBef>
                <a:spcPts val="0"/>
              </a:spcBef>
              <a:spcAft>
                <a:spcPts val="0"/>
              </a:spcAft>
              <a:buNone/>
            </a:pPr>
            <a:r>
              <a:t/>
            </a:r>
            <a:endParaRPr sz="1500">
              <a:solidFill>
                <a:srgbClr val="7F6000"/>
              </a:solidFill>
              <a:latin typeface="Lato"/>
              <a:ea typeface="Lato"/>
              <a:cs typeface="Lato"/>
              <a:sym typeface="Lato"/>
            </a:endParaRPr>
          </a:p>
        </p:txBody>
      </p:sp>
      <p:pic>
        <p:nvPicPr>
          <p:cNvPr id="393" name="Google Shape;393;p49"/>
          <p:cNvPicPr preferRelativeResize="0"/>
          <p:nvPr/>
        </p:nvPicPr>
        <p:blipFill>
          <a:blip r:embed="rId3">
            <a:alphaModFix/>
          </a:blip>
          <a:stretch>
            <a:fillRect/>
          </a:stretch>
        </p:blipFill>
        <p:spPr>
          <a:xfrm>
            <a:off x="152400" y="1058350"/>
            <a:ext cx="5733225" cy="353040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0"/>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State-of-the-Art Comparison</a:t>
            </a:r>
            <a:endParaRPr sz="2100">
              <a:solidFill>
                <a:srgbClr val="073763"/>
              </a:solidFill>
            </a:endParaRPr>
          </a:p>
        </p:txBody>
      </p:sp>
      <p:sp>
        <p:nvSpPr>
          <p:cNvPr id="399" name="Google Shape;399;p50"/>
          <p:cNvSpPr txBox="1"/>
          <p:nvPr/>
        </p:nvSpPr>
        <p:spPr>
          <a:xfrm>
            <a:off x="6037975" y="1408025"/>
            <a:ext cx="2683800" cy="2716800"/>
          </a:xfrm>
          <a:prstGeom prst="rect">
            <a:avLst/>
          </a:prstGeom>
          <a:solidFill>
            <a:srgbClr val="FFE599"/>
          </a:solidFill>
          <a:ln cap="flat" cmpd="sng" w="38100">
            <a:solidFill>
              <a:srgbClr val="7F6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 sz="1500">
                <a:solidFill>
                  <a:srgbClr val="7F6000"/>
                </a:solidFill>
                <a:latin typeface="Lato"/>
                <a:ea typeface="Lato"/>
                <a:cs typeface="Lato"/>
                <a:sym typeface="Lato"/>
              </a:rPr>
              <a:t>SegFormer-B0</a:t>
            </a:r>
            <a:r>
              <a:rPr lang="en" sz="1500">
                <a:solidFill>
                  <a:srgbClr val="7F6000"/>
                </a:solidFill>
                <a:latin typeface="Lato"/>
                <a:ea typeface="Lato"/>
                <a:cs typeface="Lato"/>
                <a:sym typeface="Lato"/>
              </a:rPr>
              <a:t> outperforms all real-time methods despite being 4× smaller than the next lightest competitor.</a:t>
            </a:r>
            <a:endParaRPr sz="1500">
              <a:solidFill>
                <a:srgbClr val="7F6000"/>
              </a:solidFill>
              <a:latin typeface="Lato"/>
              <a:ea typeface="Lato"/>
              <a:cs typeface="Lato"/>
              <a:sym typeface="Lato"/>
            </a:endParaRPr>
          </a:p>
          <a:p>
            <a:pPr indent="0" lvl="0" marL="0" rtl="0" algn="just">
              <a:spcBef>
                <a:spcPts val="0"/>
              </a:spcBef>
              <a:spcAft>
                <a:spcPts val="0"/>
              </a:spcAft>
              <a:buNone/>
            </a:pPr>
            <a:r>
              <a:rPr b="1" lang="en" sz="1500">
                <a:solidFill>
                  <a:srgbClr val="7F6000"/>
                </a:solidFill>
                <a:latin typeface="Lato"/>
                <a:ea typeface="Lato"/>
                <a:cs typeface="Lato"/>
                <a:sym typeface="Lato"/>
              </a:rPr>
              <a:t>SegFormer-B5</a:t>
            </a:r>
            <a:r>
              <a:rPr lang="en" sz="1500">
                <a:solidFill>
                  <a:srgbClr val="7F6000"/>
                </a:solidFill>
                <a:latin typeface="Lato"/>
                <a:ea typeface="Lato"/>
                <a:cs typeface="Lato"/>
                <a:sym typeface="Lato"/>
              </a:rPr>
              <a:t> surpasses </a:t>
            </a:r>
            <a:r>
              <a:rPr b="1" lang="en" sz="1500">
                <a:solidFill>
                  <a:srgbClr val="7F6000"/>
                </a:solidFill>
                <a:latin typeface="Lato"/>
                <a:ea typeface="Lato"/>
                <a:cs typeface="Lato"/>
                <a:sym typeface="Lato"/>
              </a:rPr>
              <a:t>SETR</a:t>
            </a:r>
            <a:r>
              <a:rPr lang="en" sz="1500">
                <a:solidFill>
                  <a:srgbClr val="7F6000"/>
                </a:solidFill>
                <a:latin typeface="Lato"/>
                <a:ea typeface="Lato"/>
                <a:cs typeface="Lato"/>
                <a:sym typeface="Lato"/>
              </a:rPr>
              <a:t> by </a:t>
            </a:r>
            <a:r>
              <a:rPr b="1" lang="en" sz="1500">
                <a:solidFill>
                  <a:srgbClr val="7F6000"/>
                </a:solidFill>
                <a:latin typeface="Lato"/>
                <a:ea typeface="Lato"/>
                <a:cs typeface="Lato"/>
                <a:sym typeface="Lato"/>
              </a:rPr>
              <a:t>+1.6%</a:t>
            </a:r>
            <a:r>
              <a:rPr lang="en" sz="1500">
                <a:solidFill>
                  <a:srgbClr val="7F6000"/>
                </a:solidFill>
                <a:latin typeface="Lato"/>
                <a:ea typeface="Lato"/>
                <a:cs typeface="Lato"/>
                <a:sym typeface="Lato"/>
              </a:rPr>
              <a:t> mIoU on </a:t>
            </a:r>
            <a:r>
              <a:rPr b="1" lang="en" sz="1500">
                <a:solidFill>
                  <a:srgbClr val="7F6000"/>
                </a:solidFill>
                <a:latin typeface="Lato"/>
                <a:ea typeface="Lato"/>
                <a:cs typeface="Lato"/>
                <a:sym typeface="Lato"/>
              </a:rPr>
              <a:t>ADE20K</a:t>
            </a:r>
            <a:r>
              <a:rPr lang="en" sz="1500">
                <a:solidFill>
                  <a:srgbClr val="7F6000"/>
                </a:solidFill>
                <a:latin typeface="Lato"/>
                <a:ea typeface="Lato"/>
                <a:cs typeface="Lato"/>
                <a:sym typeface="Lato"/>
              </a:rPr>
              <a:t> while using 4× fewer parameters and running 5× faster, using only </a:t>
            </a:r>
            <a:r>
              <a:rPr b="1" lang="en" sz="1500">
                <a:solidFill>
                  <a:srgbClr val="7F6000"/>
                </a:solidFill>
                <a:latin typeface="Lato"/>
                <a:ea typeface="Lato"/>
                <a:cs typeface="Lato"/>
                <a:sym typeface="Lato"/>
              </a:rPr>
              <a:t>ImageNet-1K</a:t>
            </a:r>
            <a:r>
              <a:rPr lang="en" sz="1500">
                <a:solidFill>
                  <a:srgbClr val="7F6000"/>
                </a:solidFill>
                <a:latin typeface="Lato"/>
                <a:ea typeface="Lato"/>
                <a:cs typeface="Lato"/>
                <a:sym typeface="Lato"/>
              </a:rPr>
              <a:t> pre training versus SETR’s ImageNet-22K.</a:t>
            </a:r>
            <a:endParaRPr sz="1500">
              <a:solidFill>
                <a:srgbClr val="7F6000"/>
              </a:solidFill>
              <a:latin typeface="Lato"/>
              <a:ea typeface="Lato"/>
              <a:cs typeface="Lato"/>
              <a:sym typeface="Lato"/>
            </a:endParaRPr>
          </a:p>
          <a:p>
            <a:pPr indent="0" lvl="0" marL="0" rtl="0" algn="just">
              <a:spcBef>
                <a:spcPts val="0"/>
              </a:spcBef>
              <a:spcAft>
                <a:spcPts val="0"/>
              </a:spcAft>
              <a:buNone/>
            </a:pPr>
            <a:r>
              <a:t/>
            </a:r>
            <a:endParaRPr sz="1500">
              <a:solidFill>
                <a:srgbClr val="7F6000"/>
              </a:solidFill>
              <a:latin typeface="Lato"/>
              <a:ea typeface="Lato"/>
              <a:cs typeface="Lato"/>
              <a:sym typeface="Lato"/>
            </a:endParaRPr>
          </a:p>
        </p:txBody>
      </p:sp>
      <p:pic>
        <p:nvPicPr>
          <p:cNvPr id="400" name="Google Shape;400;p50"/>
          <p:cNvPicPr preferRelativeResize="0"/>
          <p:nvPr/>
        </p:nvPicPr>
        <p:blipFill>
          <a:blip r:embed="rId3">
            <a:alphaModFix/>
          </a:blip>
          <a:stretch>
            <a:fillRect/>
          </a:stretch>
        </p:blipFill>
        <p:spPr>
          <a:xfrm>
            <a:off x="152400" y="1058350"/>
            <a:ext cx="5733225" cy="353040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1"/>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Cityscapes Test Set</a:t>
            </a:r>
            <a:endParaRPr sz="2100">
              <a:solidFill>
                <a:srgbClr val="073763"/>
              </a:solidFill>
            </a:endParaRPr>
          </a:p>
        </p:txBody>
      </p:sp>
      <p:sp>
        <p:nvSpPr>
          <p:cNvPr id="406" name="Google Shape;406;p51"/>
          <p:cNvSpPr txBox="1"/>
          <p:nvPr/>
        </p:nvSpPr>
        <p:spPr>
          <a:xfrm>
            <a:off x="5656975" y="1389650"/>
            <a:ext cx="3064800" cy="2685300"/>
          </a:xfrm>
          <a:prstGeom prst="rect">
            <a:avLst/>
          </a:prstGeom>
          <a:solidFill>
            <a:srgbClr val="FFE599"/>
          </a:solidFill>
          <a:ln cap="flat" cmpd="sng" w="38100">
            <a:solidFill>
              <a:srgbClr val="7F6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Clr>
                <a:schemeClr val="dk2"/>
              </a:buClr>
              <a:buSzPts val="1100"/>
              <a:buFont typeface="Arial"/>
              <a:buNone/>
            </a:pPr>
            <a:r>
              <a:rPr b="1" lang="en" sz="1500">
                <a:solidFill>
                  <a:srgbClr val="7F6000"/>
                </a:solidFill>
                <a:latin typeface="Lato"/>
                <a:ea typeface="Lato"/>
                <a:cs typeface="Lato"/>
                <a:sym typeface="Lato"/>
              </a:rPr>
              <a:t>SegFormer-B5</a:t>
            </a:r>
            <a:r>
              <a:rPr lang="en" sz="1500">
                <a:solidFill>
                  <a:srgbClr val="7F6000"/>
                </a:solidFill>
                <a:latin typeface="Lato"/>
                <a:ea typeface="Lato"/>
                <a:cs typeface="Lato"/>
                <a:sym typeface="Lato"/>
              </a:rPr>
              <a:t> achieves </a:t>
            </a:r>
            <a:r>
              <a:rPr b="1" lang="en" sz="1500">
                <a:solidFill>
                  <a:srgbClr val="7F6000"/>
                </a:solidFill>
                <a:latin typeface="Lato"/>
                <a:ea typeface="Lato"/>
                <a:cs typeface="Lato"/>
                <a:sym typeface="Lato"/>
              </a:rPr>
              <a:t>82.2% </a:t>
            </a:r>
            <a:r>
              <a:rPr lang="en" sz="1500">
                <a:solidFill>
                  <a:srgbClr val="7F6000"/>
                </a:solidFill>
                <a:latin typeface="Lato"/>
                <a:ea typeface="Lato"/>
                <a:cs typeface="Lato"/>
                <a:sym typeface="Lato"/>
              </a:rPr>
              <a:t>using only </a:t>
            </a:r>
            <a:r>
              <a:rPr b="1" lang="en" sz="1500">
                <a:solidFill>
                  <a:srgbClr val="7F6000"/>
                </a:solidFill>
                <a:latin typeface="Lato"/>
                <a:ea typeface="Lato"/>
                <a:cs typeface="Lato"/>
                <a:sym typeface="Lato"/>
              </a:rPr>
              <a:t>fine Cityscapes labels</a:t>
            </a:r>
            <a:r>
              <a:rPr lang="en" sz="1500">
                <a:solidFill>
                  <a:srgbClr val="7F6000"/>
                </a:solidFill>
                <a:latin typeface="Lato"/>
                <a:ea typeface="Lato"/>
                <a:cs typeface="Lato"/>
                <a:sym typeface="Lato"/>
              </a:rPr>
              <a:t> and </a:t>
            </a:r>
            <a:r>
              <a:rPr b="1" lang="en" sz="1500">
                <a:solidFill>
                  <a:srgbClr val="7F6000"/>
                </a:solidFill>
                <a:latin typeface="Lato"/>
                <a:ea typeface="Lato"/>
                <a:cs typeface="Lato"/>
                <a:sym typeface="Lato"/>
              </a:rPr>
              <a:t>ImageNet-1K</a:t>
            </a:r>
            <a:r>
              <a:rPr lang="en" sz="1500">
                <a:solidFill>
                  <a:srgbClr val="7F6000"/>
                </a:solidFill>
                <a:latin typeface="Lato"/>
                <a:ea typeface="Lato"/>
                <a:cs typeface="Lato"/>
                <a:sym typeface="Lato"/>
              </a:rPr>
              <a:t> pretraining, surpassing </a:t>
            </a:r>
            <a:r>
              <a:rPr b="1" lang="en" sz="1500">
                <a:solidFill>
                  <a:srgbClr val="7F6000"/>
                </a:solidFill>
                <a:latin typeface="Lato"/>
                <a:ea typeface="Lato"/>
                <a:cs typeface="Lato"/>
                <a:sym typeface="Lato"/>
              </a:rPr>
              <a:t>SETR</a:t>
            </a:r>
            <a:r>
              <a:rPr lang="en" sz="1500">
                <a:solidFill>
                  <a:srgbClr val="7F6000"/>
                </a:solidFill>
                <a:latin typeface="Lato"/>
                <a:ea typeface="Lato"/>
                <a:cs typeface="Lato"/>
                <a:sym typeface="Lato"/>
              </a:rPr>
              <a:t> which uses </a:t>
            </a:r>
            <a:r>
              <a:rPr b="1" lang="en" sz="1500">
                <a:solidFill>
                  <a:srgbClr val="7F6000"/>
                </a:solidFill>
                <a:latin typeface="Lato"/>
                <a:ea typeface="Lato"/>
                <a:cs typeface="Lato"/>
                <a:sym typeface="Lato"/>
              </a:rPr>
              <a:t>ImageNet-22K (14× more </a:t>
            </a:r>
            <a:r>
              <a:rPr b="1" lang="en" sz="1500">
                <a:solidFill>
                  <a:srgbClr val="7F6000"/>
                </a:solidFill>
                <a:latin typeface="Lato"/>
                <a:ea typeface="Lato"/>
                <a:cs typeface="Lato"/>
                <a:sym typeface="Lato"/>
              </a:rPr>
              <a:t>pre training</a:t>
            </a:r>
            <a:r>
              <a:rPr b="1" lang="en" sz="1500">
                <a:solidFill>
                  <a:srgbClr val="7F6000"/>
                </a:solidFill>
                <a:latin typeface="Lato"/>
                <a:ea typeface="Lato"/>
                <a:cs typeface="Lato"/>
                <a:sym typeface="Lato"/>
              </a:rPr>
              <a:t> data)</a:t>
            </a:r>
            <a:r>
              <a:rPr lang="en" sz="1500">
                <a:solidFill>
                  <a:srgbClr val="7F6000"/>
                </a:solidFill>
                <a:latin typeface="Lato"/>
                <a:ea typeface="Lato"/>
                <a:cs typeface="Lato"/>
                <a:sym typeface="Lato"/>
              </a:rPr>
              <a:t> and the additional Cityscapes coarse set. With Mapillary Vistas pretraining, SegFormer reaches 83.1%, a new </a:t>
            </a:r>
            <a:r>
              <a:rPr b="1" lang="en" sz="1500">
                <a:solidFill>
                  <a:srgbClr val="7F6000"/>
                </a:solidFill>
                <a:latin typeface="Lato"/>
                <a:ea typeface="Lato"/>
                <a:cs typeface="Lato"/>
                <a:sym typeface="Lato"/>
              </a:rPr>
              <a:t>state of the art</a:t>
            </a:r>
            <a:r>
              <a:rPr lang="en" sz="1500">
                <a:solidFill>
                  <a:srgbClr val="7F6000"/>
                </a:solidFill>
                <a:latin typeface="Lato"/>
                <a:ea typeface="Lato"/>
                <a:cs typeface="Lato"/>
                <a:sym typeface="Lato"/>
              </a:rPr>
              <a:t> on the Cityscapes test server.</a:t>
            </a:r>
            <a:endParaRPr sz="1500">
              <a:solidFill>
                <a:srgbClr val="7F6000"/>
              </a:solidFill>
              <a:latin typeface="Lato"/>
              <a:ea typeface="Lato"/>
              <a:cs typeface="Lato"/>
              <a:sym typeface="Lato"/>
            </a:endParaRPr>
          </a:p>
          <a:p>
            <a:pPr indent="0" lvl="0" marL="0" rtl="0" algn="just">
              <a:spcBef>
                <a:spcPts val="0"/>
              </a:spcBef>
              <a:spcAft>
                <a:spcPts val="0"/>
              </a:spcAft>
              <a:buNone/>
            </a:pPr>
            <a:r>
              <a:t/>
            </a:r>
            <a:endParaRPr sz="1500">
              <a:solidFill>
                <a:srgbClr val="7F6000"/>
              </a:solidFill>
              <a:latin typeface="Lato"/>
              <a:ea typeface="Lato"/>
              <a:cs typeface="Lato"/>
              <a:sym typeface="Lato"/>
            </a:endParaRPr>
          </a:p>
        </p:txBody>
      </p:sp>
      <p:pic>
        <p:nvPicPr>
          <p:cNvPr id="407" name="Google Shape;407;p51"/>
          <p:cNvPicPr preferRelativeResize="0"/>
          <p:nvPr/>
        </p:nvPicPr>
        <p:blipFill>
          <a:blip r:embed="rId3">
            <a:alphaModFix/>
          </a:blip>
          <a:stretch>
            <a:fillRect/>
          </a:stretch>
        </p:blipFill>
        <p:spPr>
          <a:xfrm>
            <a:off x="152400" y="1210750"/>
            <a:ext cx="5352224" cy="317604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2"/>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State-of-the-Art Comparison</a:t>
            </a:r>
            <a:endParaRPr sz="2100">
              <a:solidFill>
                <a:srgbClr val="073763"/>
              </a:solidFill>
            </a:endParaRPr>
          </a:p>
        </p:txBody>
      </p:sp>
      <p:sp>
        <p:nvSpPr>
          <p:cNvPr id="413" name="Google Shape;413;p52"/>
          <p:cNvSpPr txBox="1"/>
          <p:nvPr/>
        </p:nvSpPr>
        <p:spPr>
          <a:xfrm>
            <a:off x="6037975" y="1408025"/>
            <a:ext cx="2683800" cy="2716800"/>
          </a:xfrm>
          <a:prstGeom prst="rect">
            <a:avLst/>
          </a:prstGeom>
          <a:solidFill>
            <a:srgbClr val="FFE599"/>
          </a:solidFill>
          <a:ln cap="flat" cmpd="sng" w="38100">
            <a:solidFill>
              <a:srgbClr val="7F6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 sz="1500">
                <a:solidFill>
                  <a:srgbClr val="7F6000"/>
                </a:solidFill>
                <a:latin typeface="Lato"/>
                <a:ea typeface="Lato"/>
                <a:cs typeface="Lato"/>
                <a:sym typeface="Lato"/>
              </a:rPr>
              <a:t>SegFormer-B0</a:t>
            </a:r>
            <a:r>
              <a:rPr lang="en" sz="1500">
                <a:solidFill>
                  <a:srgbClr val="7F6000"/>
                </a:solidFill>
                <a:latin typeface="Lato"/>
                <a:ea typeface="Lato"/>
                <a:cs typeface="Lato"/>
                <a:sym typeface="Lato"/>
              </a:rPr>
              <a:t> outperforms all real-time methods despite being 4× smaller than the next lightest competitor.</a:t>
            </a:r>
            <a:endParaRPr sz="1500">
              <a:solidFill>
                <a:srgbClr val="7F6000"/>
              </a:solidFill>
              <a:latin typeface="Lato"/>
              <a:ea typeface="Lato"/>
              <a:cs typeface="Lato"/>
              <a:sym typeface="Lato"/>
            </a:endParaRPr>
          </a:p>
          <a:p>
            <a:pPr indent="0" lvl="0" marL="0" rtl="0" algn="just">
              <a:spcBef>
                <a:spcPts val="0"/>
              </a:spcBef>
              <a:spcAft>
                <a:spcPts val="0"/>
              </a:spcAft>
              <a:buNone/>
            </a:pPr>
            <a:r>
              <a:rPr b="1" lang="en" sz="1500">
                <a:solidFill>
                  <a:srgbClr val="7F6000"/>
                </a:solidFill>
                <a:latin typeface="Lato"/>
                <a:ea typeface="Lato"/>
                <a:cs typeface="Lato"/>
                <a:sym typeface="Lato"/>
              </a:rPr>
              <a:t>SegFormer-B5</a:t>
            </a:r>
            <a:r>
              <a:rPr lang="en" sz="1500">
                <a:solidFill>
                  <a:srgbClr val="7F6000"/>
                </a:solidFill>
                <a:latin typeface="Lato"/>
                <a:ea typeface="Lato"/>
                <a:cs typeface="Lato"/>
                <a:sym typeface="Lato"/>
              </a:rPr>
              <a:t> surpasses </a:t>
            </a:r>
            <a:r>
              <a:rPr b="1" lang="en" sz="1500">
                <a:solidFill>
                  <a:srgbClr val="7F6000"/>
                </a:solidFill>
                <a:latin typeface="Lato"/>
                <a:ea typeface="Lato"/>
                <a:cs typeface="Lato"/>
                <a:sym typeface="Lato"/>
              </a:rPr>
              <a:t>SETR</a:t>
            </a:r>
            <a:r>
              <a:rPr lang="en" sz="1500">
                <a:solidFill>
                  <a:srgbClr val="7F6000"/>
                </a:solidFill>
                <a:latin typeface="Lato"/>
                <a:ea typeface="Lato"/>
                <a:cs typeface="Lato"/>
                <a:sym typeface="Lato"/>
              </a:rPr>
              <a:t> by </a:t>
            </a:r>
            <a:r>
              <a:rPr b="1" lang="en" sz="1500">
                <a:solidFill>
                  <a:srgbClr val="7F6000"/>
                </a:solidFill>
                <a:latin typeface="Lato"/>
                <a:ea typeface="Lato"/>
                <a:cs typeface="Lato"/>
                <a:sym typeface="Lato"/>
              </a:rPr>
              <a:t>+1.6%</a:t>
            </a:r>
            <a:r>
              <a:rPr lang="en" sz="1500">
                <a:solidFill>
                  <a:srgbClr val="7F6000"/>
                </a:solidFill>
                <a:latin typeface="Lato"/>
                <a:ea typeface="Lato"/>
                <a:cs typeface="Lato"/>
                <a:sym typeface="Lato"/>
              </a:rPr>
              <a:t> mIoU on </a:t>
            </a:r>
            <a:r>
              <a:rPr b="1" lang="en" sz="1500">
                <a:solidFill>
                  <a:srgbClr val="7F6000"/>
                </a:solidFill>
                <a:latin typeface="Lato"/>
                <a:ea typeface="Lato"/>
                <a:cs typeface="Lato"/>
                <a:sym typeface="Lato"/>
              </a:rPr>
              <a:t>ADE20K</a:t>
            </a:r>
            <a:r>
              <a:rPr lang="en" sz="1500">
                <a:solidFill>
                  <a:srgbClr val="7F6000"/>
                </a:solidFill>
                <a:latin typeface="Lato"/>
                <a:ea typeface="Lato"/>
                <a:cs typeface="Lato"/>
                <a:sym typeface="Lato"/>
              </a:rPr>
              <a:t> while using 4× fewer parameters and running 5× faster, using only </a:t>
            </a:r>
            <a:r>
              <a:rPr b="1" lang="en" sz="1500">
                <a:solidFill>
                  <a:srgbClr val="7F6000"/>
                </a:solidFill>
                <a:latin typeface="Lato"/>
                <a:ea typeface="Lato"/>
                <a:cs typeface="Lato"/>
                <a:sym typeface="Lato"/>
              </a:rPr>
              <a:t>ImageNet-1K</a:t>
            </a:r>
            <a:r>
              <a:rPr lang="en" sz="1500">
                <a:solidFill>
                  <a:srgbClr val="7F6000"/>
                </a:solidFill>
                <a:latin typeface="Lato"/>
                <a:ea typeface="Lato"/>
                <a:cs typeface="Lato"/>
                <a:sym typeface="Lato"/>
              </a:rPr>
              <a:t> pre training versus SETR’s ImageNet-22K.</a:t>
            </a:r>
            <a:endParaRPr sz="1500">
              <a:solidFill>
                <a:srgbClr val="7F6000"/>
              </a:solidFill>
              <a:latin typeface="Lato"/>
              <a:ea typeface="Lato"/>
              <a:cs typeface="Lato"/>
              <a:sym typeface="Lato"/>
            </a:endParaRPr>
          </a:p>
          <a:p>
            <a:pPr indent="0" lvl="0" marL="0" rtl="0" algn="just">
              <a:spcBef>
                <a:spcPts val="0"/>
              </a:spcBef>
              <a:spcAft>
                <a:spcPts val="0"/>
              </a:spcAft>
              <a:buNone/>
            </a:pPr>
            <a:r>
              <a:t/>
            </a:r>
            <a:endParaRPr sz="1500">
              <a:solidFill>
                <a:srgbClr val="7F6000"/>
              </a:solidFill>
              <a:latin typeface="Lato"/>
              <a:ea typeface="Lato"/>
              <a:cs typeface="Lato"/>
              <a:sym typeface="Lato"/>
            </a:endParaRPr>
          </a:p>
        </p:txBody>
      </p:sp>
      <p:pic>
        <p:nvPicPr>
          <p:cNvPr id="414" name="Google Shape;414;p52"/>
          <p:cNvPicPr preferRelativeResize="0"/>
          <p:nvPr/>
        </p:nvPicPr>
        <p:blipFill>
          <a:blip r:embed="rId3">
            <a:alphaModFix/>
          </a:blip>
          <a:stretch>
            <a:fillRect/>
          </a:stretch>
        </p:blipFill>
        <p:spPr>
          <a:xfrm>
            <a:off x="152400" y="1058350"/>
            <a:ext cx="5733225" cy="353040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3"/>
          <p:cNvSpPr txBox="1"/>
          <p:nvPr>
            <p:ph type="title"/>
          </p:nvPr>
        </p:nvSpPr>
        <p:spPr>
          <a:xfrm>
            <a:off x="396925" y="575950"/>
            <a:ext cx="83250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73763"/>
                </a:solidFill>
              </a:rPr>
              <a:t>Qualitative Analysis</a:t>
            </a:r>
            <a:endParaRPr>
              <a:solidFill>
                <a:srgbClr val="073763"/>
              </a:solidFill>
            </a:endParaRPr>
          </a:p>
        </p:txBody>
      </p:sp>
      <p:pic>
        <p:nvPicPr>
          <p:cNvPr id="420" name="Google Shape;420;p53"/>
          <p:cNvPicPr preferRelativeResize="0"/>
          <p:nvPr/>
        </p:nvPicPr>
        <p:blipFill>
          <a:blip r:embed="rId3">
            <a:alphaModFix/>
          </a:blip>
          <a:stretch>
            <a:fillRect/>
          </a:stretch>
        </p:blipFill>
        <p:spPr>
          <a:xfrm>
            <a:off x="147425" y="1775375"/>
            <a:ext cx="8849151" cy="23096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4"/>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Robustness to Natural Corruptions (Cityscapes-C)</a:t>
            </a:r>
            <a:endParaRPr sz="2100">
              <a:solidFill>
                <a:srgbClr val="073763"/>
              </a:solidFill>
            </a:endParaRPr>
          </a:p>
        </p:txBody>
      </p:sp>
      <p:pic>
        <p:nvPicPr>
          <p:cNvPr id="426" name="Google Shape;426;p54"/>
          <p:cNvPicPr preferRelativeResize="0"/>
          <p:nvPr/>
        </p:nvPicPr>
        <p:blipFill>
          <a:blip r:embed="rId3">
            <a:alphaModFix/>
          </a:blip>
          <a:stretch>
            <a:fillRect/>
          </a:stretch>
        </p:blipFill>
        <p:spPr>
          <a:xfrm>
            <a:off x="697400" y="1161075"/>
            <a:ext cx="7749200" cy="32535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5"/>
          <p:cNvSpPr txBox="1"/>
          <p:nvPr>
            <p:ph type="title"/>
          </p:nvPr>
        </p:nvSpPr>
        <p:spPr>
          <a:xfrm>
            <a:off x="272875" y="575950"/>
            <a:ext cx="84489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solidFill>
                  <a:srgbClr val="073763"/>
                </a:solidFill>
              </a:rPr>
              <a:t>SegFormer vs other models – </a:t>
            </a:r>
            <a:r>
              <a:rPr lang="en" sz="2100">
                <a:solidFill>
                  <a:srgbClr val="073763"/>
                </a:solidFill>
              </a:rPr>
              <a:t>Comparison</a:t>
            </a:r>
            <a:endParaRPr sz="2100">
              <a:solidFill>
                <a:srgbClr val="073763"/>
              </a:solidFill>
            </a:endParaRPr>
          </a:p>
        </p:txBody>
      </p:sp>
      <p:pic>
        <p:nvPicPr>
          <p:cNvPr id="432" name="Google Shape;432;p55"/>
          <p:cNvPicPr preferRelativeResize="0"/>
          <p:nvPr/>
        </p:nvPicPr>
        <p:blipFill>
          <a:blip r:embed="rId3">
            <a:alphaModFix/>
          </a:blip>
          <a:stretch>
            <a:fillRect/>
          </a:stretch>
        </p:blipFill>
        <p:spPr>
          <a:xfrm>
            <a:off x="632775" y="1094800"/>
            <a:ext cx="7807200" cy="3481350"/>
          </a:xfrm>
          <a:prstGeom prst="rect">
            <a:avLst/>
          </a:prstGeom>
          <a:noFill/>
          <a:ln cap="flat" cmpd="sng" w="19050">
            <a:solidFill>
              <a:srgbClr val="073763"/>
            </a:solidFill>
            <a:prstDash val="solid"/>
            <a:round/>
            <a:headEnd len="sm" w="sm" type="none"/>
            <a:tailEnd len="sm" w="sm" type="none"/>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3763"/>
        </a:solidFill>
      </p:bgPr>
    </p:bg>
    <p:spTree>
      <p:nvGrpSpPr>
        <p:cNvPr id="436" name="Shape 436"/>
        <p:cNvGrpSpPr/>
        <p:nvPr/>
      </p:nvGrpSpPr>
      <p:grpSpPr>
        <a:xfrm>
          <a:off x="0" y="0"/>
          <a:ext cx="0" cy="0"/>
          <a:chOff x="0" y="0"/>
          <a:chExt cx="0" cy="0"/>
        </a:xfrm>
      </p:grpSpPr>
      <p:sp>
        <p:nvSpPr>
          <p:cNvPr id="437" name="Google Shape;437;p56"/>
          <p:cNvSpPr txBox="1"/>
          <p:nvPr>
            <p:ph idx="4294967295" type="title"/>
          </p:nvPr>
        </p:nvSpPr>
        <p:spPr>
          <a:xfrm>
            <a:off x="903250" y="533375"/>
            <a:ext cx="6990000" cy="5433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3200">
                <a:solidFill>
                  <a:schemeClr val="lt1"/>
                </a:solidFill>
              </a:rPr>
              <a:t>References</a:t>
            </a:r>
            <a:endParaRPr sz="3200">
              <a:solidFill>
                <a:schemeClr val="lt1"/>
              </a:solidFill>
            </a:endParaRPr>
          </a:p>
        </p:txBody>
      </p:sp>
      <p:sp>
        <p:nvSpPr>
          <p:cNvPr id="438" name="Google Shape;438;p56"/>
          <p:cNvSpPr txBox="1"/>
          <p:nvPr/>
        </p:nvSpPr>
        <p:spPr>
          <a:xfrm>
            <a:off x="811700" y="1200975"/>
            <a:ext cx="3760200" cy="33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222222"/>
                </a:solidFill>
                <a:highlight>
                  <a:srgbClr val="FFFFFF"/>
                </a:highlight>
              </a:rPr>
              <a:t>[1] Long, Jonathan, Evan Shelhamer, and Trevor Darrell. "Fully convolutional networks for semantic segmentation." </a:t>
            </a:r>
            <a:r>
              <a:rPr i="1" lang="en" sz="1000">
                <a:solidFill>
                  <a:srgbClr val="222222"/>
                </a:solidFill>
                <a:highlight>
                  <a:srgbClr val="FFFFFF"/>
                </a:highlight>
              </a:rPr>
              <a:t>Proceedings of the IEEE conference on computer vision and pattern recognition</a:t>
            </a:r>
            <a:r>
              <a:rPr lang="en" sz="1000">
                <a:solidFill>
                  <a:srgbClr val="222222"/>
                </a:solidFill>
                <a:highlight>
                  <a:srgbClr val="FFFFFF"/>
                </a:highlight>
              </a:rPr>
              <a:t>. 2015.</a:t>
            </a:r>
            <a:endParaRPr sz="1000">
              <a:solidFill>
                <a:srgbClr val="222222"/>
              </a:solidFill>
              <a:highlight>
                <a:srgbClr val="FFFFFF"/>
              </a:highlight>
            </a:endParaRPr>
          </a:p>
          <a:p>
            <a:pPr indent="0" lvl="0" marL="0" rtl="0" algn="l">
              <a:spcBef>
                <a:spcPts val="0"/>
              </a:spcBef>
              <a:spcAft>
                <a:spcPts val="0"/>
              </a:spcAft>
              <a:buNone/>
            </a:pPr>
            <a:r>
              <a:t/>
            </a:r>
            <a:endParaRPr sz="1000">
              <a:solidFill>
                <a:srgbClr val="222222"/>
              </a:solidFill>
              <a:highlight>
                <a:srgbClr val="FFFFFF"/>
              </a:highlight>
            </a:endParaRPr>
          </a:p>
          <a:p>
            <a:pPr indent="0" lvl="0" marL="0" rtl="0" algn="l">
              <a:spcBef>
                <a:spcPts val="0"/>
              </a:spcBef>
              <a:spcAft>
                <a:spcPts val="0"/>
              </a:spcAft>
              <a:buNone/>
            </a:pPr>
            <a:r>
              <a:rPr lang="en" sz="1000">
                <a:solidFill>
                  <a:srgbClr val="222222"/>
                </a:solidFill>
                <a:highlight>
                  <a:srgbClr val="FFFFFF"/>
                </a:highlight>
              </a:rPr>
              <a:t>[2] Chen, Liang-Chieh, et al. "Deeplab: Semantic image segmentation with deep convolutional nets, atrous convolution, and fully connected crfs." </a:t>
            </a:r>
            <a:r>
              <a:rPr i="1" lang="en" sz="1000">
                <a:solidFill>
                  <a:srgbClr val="222222"/>
                </a:solidFill>
                <a:highlight>
                  <a:srgbClr val="FFFFFF"/>
                </a:highlight>
              </a:rPr>
              <a:t>IEEE transactions on pattern analysis and machine intelligence</a:t>
            </a:r>
            <a:r>
              <a:rPr lang="en" sz="1000">
                <a:solidFill>
                  <a:srgbClr val="222222"/>
                </a:solidFill>
                <a:highlight>
                  <a:srgbClr val="FFFFFF"/>
                </a:highlight>
              </a:rPr>
              <a:t> 40.4 (2017): 834-848.</a:t>
            </a:r>
            <a:endParaRPr sz="1000">
              <a:solidFill>
                <a:srgbClr val="222222"/>
              </a:solidFill>
              <a:highlight>
                <a:srgbClr val="FFFFFF"/>
              </a:highlight>
            </a:endParaRPr>
          </a:p>
          <a:p>
            <a:pPr indent="0" lvl="0" marL="0" rtl="0" algn="l">
              <a:spcBef>
                <a:spcPts val="0"/>
              </a:spcBef>
              <a:spcAft>
                <a:spcPts val="0"/>
              </a:spcAft>
              <a:buNone/>
            </a:pPr>
            <a:r>
              <a:t/>
            </a:r>
            <a:endParaRPr sz="1000">
              <a:solidFill>
                <a:srgbClr val="222222"/>
              </a:solidFill>
              <a:highlight>
                <a:srgbClr val="FFFFFF"/>
              </a:highlight>
            </a:endParaRPr>
          </a:p>
          <a:p>
            <a:pPr indent="0" lvl="0" marL="0" rtl="0" algn="l">
              <a:spcBef>
                <a:spcPts val="0"/>
              </a:spcBef>
              <a:spcAft>
                <a:spcPts val="0"/>
              </a:spcAft>
              <a:buNone/>
            </a:pPr>
            <a:r>
              <a:rPr lang="en" sz="1000">
                <a:solidFill>
                  <a:srgbClr val="222222"/>
                </a:solidFill>
                <a:highlight>
                  <a:srgbClr val="FFFFFF"/>
                </a:highlight>
              </a:rPr>
              <a:t>[3] Zhao, Hengshuang, et al. "Pyramid scene parsing network." </a:t>
            </a:r>
            <a:r>
              <a:rPr i="1" lang="en" sz="1000">
                <a:solidFill>
                  <a:srgbClr val="222222"/>
                </a:solidFill>
                <a:highlight>
                  <a:srgbClr val="FFFFFF"/>
                </a:highlight>
              </a:rPr>
              <a:t>Proceedings of the IEEE conference on computer vision and pattern recognition</a:t>
            </a:r>
            <a:r>
              <a:rPr lang="en" sz="1000">
                <a:solidFill>
                  <a:srgbClr val="222222"/>
                </a:solidFill>
                <a:highlight>
                  <a:srgbClr val="FFFFFF"/>
                </a:highlight>
              </a:rPr>
              <a:t>. 2017.</a:t>
            </a:r>
            <a:endParaRPr sz="1000">
              <a:solidFill>
                <a:srgbClr val="222222"/>
              </a:solidFill>
              <a:highlight>
                <a:srgbClr val="FFFFFF"/>
              </a:highlight>
            </a:endParaRPr>
          </a:p>
          <a:p>
            <a:pPr indent="0" lvl="0" marL="0" rtl="0" algn="l">
              <a:spcBef>
                <a:spcPts val="0"/>
              </a:spcBef>
              <a:spcAft>
                <a:spcPts val="0"/>
              </a:spcAft>
              <a:buNone/>
            </a:pPr>
            <a:r>
              <a:t/>
            </a:r>
            <a:endParaRPr sz="1000">
              <a:solidFill>
                <a:srgbClr val="222222"/>
              </a:solidFill>
              <a:highlight>
                <a:srgbClr val="FFFFFF"/>
              </a:highlight>
            </a:endParaRPr>
          </a:p>
          <a:p>
            <a:pPr indent="0" lvl="0" marL="0" rtl="0" algn="l">
              <a:spcBef>
                <a:spcPts val="0"/>
              </a:spcBef>
              <a:spcAft>
                <a:spcPts val="0"/>
              </a:spcAft>
              <a:buNone/>
            </a:pPr>
            <a:r>
              <a:rPr lang="en" sz="1000">
                <a:solidFill>
                  <a:srgbClr val="222222"/>
                </a:solidFill>
                <a:highlight>
                  <a:srgbClr val="FFFFFF"/>
                </a:highlight>
              </a:rPr>
              <a:t>[4] Chen, Liang-Chieh, et al. "Encoder-decoder with atrous separable convolution for semantic image segmentation." </a:t>
            </a:r>
            <a:r>
              <a:rPr i="1" lang="en" sz="1000">
                <a:solidFill>
                  <a:srgbClr val="222222"/>
                </a:solidFill>
                <a:highlight>
                  <a:srgbClr val="FFFFFF"/>
                </a:highlight>
              </a:rPr>
              <a:t>Proceedings of the European conference on computer vision (ECCV)</a:t>
            </a:r>
            <a:r>
              <a:rPr lang="en" sz="1000">
                <a:solidFill>
                  <a:srgbClr val="222222"/>
                </a:solidFill>
                <a:highlight>
                  <a:srgbClr val="FFFFFF"/>
                </a:highlight>
              </a:rPr>
              <a:t>. 2018.</a:t>
            </a:r>
            <a:endParaRPr sz="1000">
              <a:solidFill>
                <a:srgbClr val="222222"/>
              </a:solidFill>
              <a:highlight>
                <a:srgbClr val="FFFFFF"/>
              </a:highlight>
            </a:endParaRPr>
          </a:p>
        </p:txBody>
      </p:sp>
      <p:sp>
        <p:nvSpPr>
          <p:cNvPr id="439" name="Google Shape;439;p56"/>
          <p:cNvSpPr txBox="1"/>
          <p:nvPr/>
        </p:nvSpPr>
        <p:spPr>
          <a:xfrm>
            <a:off x="4724400" y="1200975"/>
            <a:ext cx="3760200" cy="33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222222"/>
                </a:solidFill>
                <a:highlight>
                  <a:srgbClr val="FFFFFF"/>
                </a:highlight>
              </a:rPr>
              <a:t>[5] Dosovitskiy, Alexey, et al. "An image is worth 16x16 words: Transformers for image recognition at scale." </a:t>
            </a:r>
            <a:r>
              <a:rPr i="1" lang="en" sz="1000">
                <a:solidFill>
                  <a:srgbClr val="222222"/>
                </a:solidFill>
                <a:highlight>
                  <a:srgbClr val="FFFFFF"/>
                </a:highlight>
              </a:rPr>
              <a:t>arXiv preprint arXiv:2010.11929</a:t>
            </a:r>
            <a:r>
              <a:rPr lang="en" sz="1000">
                <a:solidFill>
                  <a:srgbClr val="222222"/>
                </a:solidFill>
                <a:highlight>
                  <a:srgbClr val="FFFFFF"/>
                </a:highlight>
              </a:rPr>
              <a:t> (2020).</a:t>
            </a:r>
            <a:endParaRPr sz="1000">
              <a:solidFill>
                <a:srgbClr val="222222"/>
              </a:solidFill>
              <a:highlight>
                <a:srgbClr val="FFFFFF"/>
              </a:highlight>
            </a:endParaRPr>
          </a:p>
          <a:p>
            <a:pPr indent="0" lvl="0" marL="0" rtl="0" algn="l">
              <a:spcBef>
                <a:spcPts val="0"/>
              </a:spcBef>
              <a:spcAft>
                <a:spcPts val="0"/>
              </a:spcAft>
              <a:buNone/>
            </a:pPr>
            <a:r>
              <a:t/>
            </a:r>
            <a:endParaRPr sz="1000">
              <a:solidFill>
                <a:srgbClr val="222222"/>
              </a:solidFill>
              <a:highlight>
                <a:srgbClr val="FFFFFF"/>
              </a:highlight>
            </a:endParaRPr>
          </a:p>
          <a:p>
            <a:pPr indent="0" lvl="0" marL="0" rtl="0" algn="l">
              <a:spcBef>
                <a:spcPts val="0"/>
              </a:spcBef>
              <a:spcAft>
                <a:spcPts val="0"/>
              </a:spcAft>
              <a:buNone/>
            </a:pPr>
            <a:r>
              <a:rPr lang="en" sz="1000">
                <a:solidFill>
                  <a:srgbClr val="222222"/>
                </a:solidFill>
                <a:highlight>
                  <a:srgbClr val="FFFFFF"/>
                </a:highlight>
              </a:rPr>
              <a:t>[6] Touvron, Hugo, et al. "Training data-efficient image transformers &amp; distillation through attention." </a:t>
            </a:r>
            <a:r>
              <a:rPr i="1" lang="en" sz="1000">
                <a:solidFill>
                  <a:srgbClr val="222222"/>
                </a:solidFill>
                <a:highlight>
                  <a:srgbClr val="FFFFFF"/>
                </a:highlight>
              </a:rPr>
              <a:t>International conference on machine learning</a:t>
            </a:r>
            <a:r>
              <a:rPr lang="en" sz="1000">
                <a:solidFill>
                  <a:srgbClr val="222222"/>
                </a:solidFill>
                <a:highlight>
                  <a:srgbClr val="FFFFFF"/>
                </a:highlight>
              </a:rPr>
              <a:t>. PMLR, 2021.</a:t>
            </a:r>
            <a:endParaRPr sz="1000">
              <a:solidFill>
                <a:srgbClr val="222222"/>
              </a:solidFill>
              <a:highlight>
                <a:srgbClr val="FFFFFF"/>
              </a:highlight>
            </a:endParaRPr>
          </a:p>
          <a:p>
            <a:pPr indent="0" lvl="0" marL="0" rtl="0" algn="l">
              <a:spcBef>
                <a:spcPts val="0"/>
              </a:spcBef>
              <a:spcAft>
                <a:spcPts val="0"/>
              </a:spcAft>
              <a:buNone/>
            </a:pPr>
            <a:r>
              <a:t/>
            </a:r>
            <a:endParaRPr sz="1000">
              <a:solidFill>
                <a:srgbClr val="222222"/>
              </a:solidFill>
              <a:highlight>
                <a:srgbClr val="FFFFFF"/>
              </a:highlight>
            </a:endParaRPr>
          </a:p>
          <a:p>
            <a:pPr indent="0" lvl="0" marL="0" rtl="0" algn="l">
              <a:spcBef>
                <a:spcPts val="0"/>
              </a:spcBef>
              <a:spcAft>
                <a:spcPts val="0"/>
              </a:spcAft>
              <a:buNone/>
            </a:pPr>
            <a:r>
              <a:rPr lang="en" sz="1000">
                <a:solidFill>
                  <a:srgbClr val="222222"/>
                </a:solidFill>
                <a:highlight>
                  <a:srgbClr val="FFFFFF"/>
                </a:highlight>
              </a:rPr>
              <a:t>[7] Zheng, Sixiao, et al. "Rethinking semantic segmentation from a sequence-to-sequence perspective with transformers." </a:t>
            </a:r>
            <a:r>
              <a:rPr i="1" lang="en" sz="1000">
                <a:solidFill>
                  <a:srgbClr val="222222"/>
                </a:solidFill>
                <a:highlight>
                  <a:srgbClr val="FFFFFF"/>
                </a:highlight>
              </a:rPr>
              <a:t>Proceedings of the IEEE/CVF conference on computer vision and pattern recognition</a:t>
            </a:r>
            <a:r>
              <a:rPr lang="en" sz="1000">
                <a:solidFill>
                  <a:srgbClr val="222222"/>
                </a:solidFill>
                <a:highlight>
                  <a:srgbClr val="FFFFFF"/>
                </a:highlight>
              </a:rPr>
              <a:t>. 2021.</a:t>
            </a:r>
            <a:endParaRPr sz="1000">
              <a:solidFill>
                <a:srgbClr val="222222"/>
              </a:solidFill>
              <a:highlight>
                <a:srgbClr val="FFFFFF"/>
              </a:highlight>
            </a:endParaRPr>
          </a:p>
          <a:p>
            <a:pPr indent="0" lvl="0" marL="0" rtl="0" algn="l">
              <a:spcBef>
                <a:spcPts val="0"/>
              </a:spcBef>
              <a:spcAft>
                <a:spcPts val="0"/>
              </a:spcAft>
              <a:buNone/>
            </a:pPr>
            <a:r>
              <a:t/>
            </a:r>
            <a:endParaRPr sz="1000">
              <a:solidFill>
                <a:srgbClr val="222222"/>
              </a:solidFill>
              <a:highlight>
                <a:srgbClr val="FFFFFF"/>
              </a:highlight>
            </a:endParaRPr>
          </a:p>
          <a:p>
            <a:pPr indent="0" lvl="0" marL="0" rtl="0" algn="l">
              <a:spcBef>
                <a:spcPts val="0"/>
              </a:spcBef>
              <a:spcAft>
                <a:spcPts val="0"/>
              </a:spcAft>
              <a:buNone/>
            </a:pPr>
            <a:r>
              <a:rPr lang="en" sz="1000">
                <a:solidFill>
                  <a:srgbClr val="222222"/>
                </a:solidFill>
                <a:highlight>
                  <a:srgbClr val="FFFFFF"/>
                </a:highlight>
              </a:rPr>
              <a:t>[8] Liu, Ze, et al. "Swin transformer: Hierarchical vision transformer using shifted windows." </a:t>
            </a:r>
            <a:r>
              <a:rPr i="1" lang="en" sz="1000">
                <a:solidFill>
                  <a:srgbClr val="222222"/>
                </a:solidFill>
                <a:highlight>
                  <a:srgbClr val="FFFFFF"/>
                </a:highlight>
              </a:rPr>
              <a:t>Proceedings of the IEEE/CVF international conference on computer vision</a:t>
            </a:r>
            <a:r>
              <a:rPr lang="en" sz="1000">
                <a:solidFill>
                  <a:srgbClr val="222222"/>
                </a:solidFill>
                <a:highlight>
                  <a:srgbClr val="FFFFFF"/>
                </a:highlight>
              </a:rPr>
              <a:t>. 2021.</a:t>
            </a:r>
            <a:endParaRPr sz="1000">
              <a:solidFill>
                <a:srgbClr val="222222"/>
              </a:solidFill>
              <a:highlight>
                <a:srgbClr val="FFFFFF"/>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